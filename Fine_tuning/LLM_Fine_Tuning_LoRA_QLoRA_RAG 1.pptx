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CD597B-BADA-3E8D-1E70-E3A154C7263D}" v="8" dt="2026-10-04T07:57:10.7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fine-tuning as one of several ways to adapt an LLM.
Tell the audience the goal is to understand what changes inside the model, why LoRA and QLoRA are efficient, and when RAG is a better choice.
[Sources]
Visual on this slide was generated with Microsoft Copilot.
QLoRA paper: https://arxiv.org/abs/2305.14314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Fine-tuning continues training on a smaller targeted dataset.
It changes trainable parameters so the model is more likely to produce the desired patterns.
Fine-tuning is not the same as simply attaching documents at inference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fine-tuning primarily changes behavior and patterns.
For frequently changing factual knowledge, RAG is often easier to update and can provide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sequence from example to prediction to loss and parameter update.
In full fine-tuning, all model weights may be trainable. In PEFT, only a small subset is trainable.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Supervised fine-tuning is a training objective, not necessarily an all-weights method.
Instruction fine-tuning is usually a form of supervised fine-tuning using instruction-response pairs.
PEFT is a family of techniques that reduces trainable parameters.
RLHF is a separate preference-optimization pipeline and can be used after supervised fine-tuning.
[Sources]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simple example: input review and sentiment label for supervised fine-tuning.
For instruction tuning, show an instruction such as summarize this passage and an ideal response.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PEFT can reduce the number of trainable parameters by orders of magnitude, though the exact reduction depends on model size and configuration.
The base model still must be loaded, which is why QLoRA additionally quantizes the frozen base.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LoRA represents the task-specific update as the product of two low-rank matrices.
The rank r is much smaller than the original matrix dimensions.
At inference, adapters can remain separate or be merged into the base weight, depending on the toolchain.
[Sources]
Visual on this slide was generated with Microsoft Copilot.
LoRA paper: https://arxiv.org/abs/2106.09685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visual to point out the frozen transformer blocks and the small trainable LoRA components.
Stress that LoRA changes a selected subset of linear layers, commonly attention projections.
[Sources]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original table: full fine-tuning has low parameter efficiency because all parameters are updated.
Actual memory and speed vary by optimizer, precision, sequence length, batch size, and model architecture.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QLoRA backpropagates through a frozen 4-bit quantized model into LoRA adapters.
Its key innovations include NF4, double quantization, and paged optimizers.
Hardware needs still depend strongly on model size, sequence length, and training configuration.
[Sources]
Visual on this slide was generated with Microsoft Copilot.
QLoRA paper: https://arxiv.org/abs/2305.14314</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absolute hardware promises. A single GPU may be feasible for some models and configurations, but not every model.
The QLoRA paper demonstrated a 65B model on a single 48 GB GPU and preserved 16-bit fine-tuning task performance in its reported setup.
[Sources]
QLoRA paper: https://arxiv.org/abs/2305.14314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QLoRA lowers the memory barrier but does not remove the need for careful dataset design and evaluation.
Small high-quality datasets can be more valuable than large noisy datasets.
[Sources]
QLoRA paper: https://arxiv.org/abs/2305.14314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analogy: fine-tuning is learning patterns before the exam; RAG is consulting a library during the exam.
RAG can reduce unsupported factual claims when the right evidence is retrieved, but it does not eliminate hallucinations.
[Sources]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decision framework.
In real systems, fine-tuning and RAG are complementary rather than mutually exclusive.
End by asking the audience which requirement is dominant: behavior, knowledge freshness, efficiency, or alignment.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0D5FF"/>
          </a:solidFill>
          <a:ln w="12700">
            <a:solidFill>
              <a:srgbClr val="20D5FF"/>
            </a:solidFill>
            <a:prstDash val="solid"/>
          </a:ln>
        </p:spPr>
      </p:sp>
      <p:sp>
        <p:nvSpPr>
          <p:cNvPr id="3" name="Text 1"/>
          <p:cNvSpPr/>
          <p:nvPr/>
        </p:nvSpPr>
        <p:spPr>
          <a:xfrm>
            <a:off x="502920" y="201168"/>
            <a:ext cx="2194560" cy="201168"/>
          </a:xfrm>
          <a:prstGeom prst="rect">
            <a:avLst/>
          </a:prstGeom>
          <a:noFill/>
          <a:ln/>
        </p:spPr>
        <p:txBody>
          <a:bodyPr wrap="square" lIns="0" tIns="0" rIns="0" bIns="0" rtlCol="0" anchor="ctr"/>
          <a:lstStyle/>
          <a:p>
            <a:pPr marL="0" indent="0">
              <a:buNone/>
            </a:pPr>
            <a:r>
              <a:rPr lang="en-US" sz="900" b="1" kern="0" spc="140" dirty="0">
                <a:solidFill>
                  <a:srgbClr val="55D8FF"/>
                </a:solidFill>
                <a:latin typeface="Aptos" pitchFamily="34" charset="0"/>
                <a:ea typeface="Aptos" pitchFamily="34" charset="-122"/>
                <a:cs typeface="Aptos" pitchFamily="34" charset="-120"/>
              </a:rPr>
              <a:t>LLM ADAPTATION</a:t>
            </a:r>
            <a:endParaRPr lang="en-US" sz="900" dirty="0"/>
          </a:p>
        </p:txBody>
      </p:sp>
      <p:sp>
        <p:nvSpPr>
          <p:cNvPr id="4" name="Text 2"/>
          <p:cNvSpPr/>
          <p:nvPr/>
        </p:nvSpPr>
        <p:spPr>
          <a:xfrm>
            <a:off x="8458200" y="201168"/>
            <a:ext cx="3200400" cy="201168"/>
          </a:xfrm>
          <a:prstGeom prst="rect">
            <a:avLst/>
          </a:prstGeom>
          <a:noFill/>
          <a:ln/>
        </p:spPr>
        <p:txBody>
          <a:bodyPr wrap="square" lIns="0" tIns="0" rIns="0" bIns="0" rtlCol="0" anchor="ctr"/>
          <a:lstStyle/>
          <a:p>
            <a:pPr marL="0" indent="0" algn="r">
              <a:buNone/>
            </a:pPr>
            <a:r>
              <a:rPr lang="en-US" sz="800" dirty="0">
                <a:solidFill>
                  <a:srgbClr val="8FA6C2"/>
                </a:solidFill>
              </a:rPr>
              <a:t>Fine-Tuning • LoRA • QLoRA • RAG</a:t>
            </a:r>
            <a:endParaRPr lang="en-US" sz="800" dirty="0"/>
          </a:p>
        </p:txBody>
      </p:sp>
      <p:sp>
        <p:nvSpPr>
          <p:cNvPr id="25" name="Slide Number Placeholder 0"/>
          <p:cNvSpPr>
            <a:spLocks noGrp="1"/>
          </p:cNvSpPr>
          <p:nvPr>
            <p:ph type="sldNum" sz="quarter" idx="4294967295"/>
          </p:nvPr>
        </p:nvSpPr>
        <p:spPr>
          <a:xfrm>
            <a:off x="1163116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426"/>
        </a:solidFill>
        <a:effectLst/>
      </p:bgPr>
    </p:bg>
    <p:spTree>
      <p:nvGrpSpPr>
        <p:cNvPr id="1" name=""/>
        <p:cNvGrpSpPr/>
        <p:nvPr/>
      </p:nvGrpSpPr>
      <p:grpSpPr>
        <a:xfrm>
          <a:off x="0" y="0"/>
          <a:ext cx="1" cy="1"/>
          <a:chOff x="0" y="0"/>
          <a:chExt cx="1" cy="1"/>
        </a:xfrm>
      </p:grpSpPr>
      <p:pic>
        <p:nvPicPr>
          <p:cNvPr id="2" name="Image 0" descr="/mnt/data/333bb74afc.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426">
              <a:alpha val="70000"/>
            </a:srgbClr>
          </a:solidFill>
          <a:ln w="12700">
            <a:solidFill>
              <a:srgbClr val="071426">
                <a:alpha val="0"/>
              </a:srgbClr>
            </a:solidFill>
            <a:prstDash val="solid"/>
          </a:ln>
        </p:spPr>
        <p:txBody>
          <a:bodyPr/>
          <a:lstStyle/>
          <a:p>
            <a:endParaRPr lang="en-US"/>
          </a:p>
        </p:txBody>
      </p:sp>
      <p:sp>
        <p:nvSpPr>
          <p:cNvPr id="4" name="Shape 1"/>
          <p:cNvSpPr/>
          <p:nvPr/>
        </p:nvSpPr>
        <p:spPr>
          <a:xfrm>
            <a:off x="658368" y="731520"/>
            <a:ext cx="6492240" cy="4389120"/>
          </a:xfrm>
          <a:prstGeom prst="rect">
            <a:avLst/>
          </a:prstGeom>
          <a:solidFill>
            <a:srgbClr val="071426">
              <a:alpha val="90000"/>
            </a:srgbClr>
          </a:solidFill>
          <a:ln w="19050">
            <a:solidFill>
              <a:srgbClr val="20D5FF">
                <a:alpha val="55000"/>
              </a:srgbClr>
            </a:solidFill>
            <a:prstDash val="solid"/>
          </a:ln>
        </p:spPr>
        <p:txBody>
          <a:bodyPr/>
          <a:lstStyle/>
          <a:p>
            <a:endParaRPr lang="en-US"/>
          </a:p>
        </p:txBody>
      </p:sp>
      <p:sp>
        <p:nvSpPr>
          <p:cNvPr id="5" name="Text 2"/>
          <p:cNvSpPr/>
          <p:nvPr/>
        </p:nvSpPr>
        <p:spPr>
          <a:xfrm>
            <a:off x="960120" y="1188720"/>
            <a:ext cx="5852160" cy="1645920"/>
          </a:xfrm>
          <a:prstGeom prst="rect">
            <a:avLst/>
          </a:prstGeom>
          <a:noFill/>
          <a:ln/>
        </p:spPr>
        <p:txBody>
          <a:bodyPr wrap="square" lIns="0" tIns="0" rIns="0" bIns="0" rtlCol="0" anchor="ctr"/>
          <a:lstStyle/>
          <a:p>
            <a:pPr marL="0" indent="0">
              <a:buNone/>
            </a:pPr>
            <a:r>
              <a:rPr lang="en-US" sz="3400" b="1" dirty="0">
                <a:solidFill>
                  <a:srgbClr val="F7FAFC"/>
                </a:solidFill>
              </a:rPr>
              <a:t>Fine-Tuning</a:t>
            </a:r>
            <a:endParaRPr lang="en-US" sz="3400" dirty="0"/>
          </a:p>
          <a:p>
            <a:pPr marL="0" indent="0">
              <a:buNone/>
            </a:pPr>
            <a:r>
              <a:rPr lang="en-US" sz="3400" b="1" dirty="0">
                <a:solidFill>
                  <a:srgbClr val="F7FAFC"/>
                </a:solidFill>
              </a:rPr>
              <a:t>Large Language Models</a:t>
            </a:r>
            <a:endParaRPr lang="en-US" sz="3400" dirty="0"/>
          </a:p>
        </p:txBody>
      </p:sp>
      <p:sp>
        <p:nvSpPr>
          <p:cNvPr id="6" name="Text 3"/>
          <p:cNvSpPr/>
          <p:nvPr/>
        </p:nvSpPr>
        <p:spPr>
          <a:xfrm>
            <a:off x="987552" y="3154680"/>
            <a:ext cx="5394960" cy="685800"/>
          </a:xfrm>
          <a:prstGeom prst="rect">
            <a:avLst/>
          </a:prstGeom>
          <a:noFill/>
          <a:ln/>
        </p:spPr>
        <p:txBody>
          <a:bodyPr wrap="square" lIns="0" tIns="0" rIns="0" bIns="0" rtlCol="0" anchor="ctr"/>
          <a:lstStyle/>
          <a:p>
            <a:pPr marL="0" indent="0">
              <a:buNone/>
            </a:pPr>
            <a:r>
              <a:rPr lang="en-US" sz="1800" dirty="0">
                <a:solidFill>
                  <a:srgbClr val="20D5FF"/>
                </a:solidFill>
              </a:rPr>
              <a:t>From full fine-tuning to LoRA, QLoRA, and RAG</a:t>
            </a:r>
            <a:endParaRPr lang="en-US" sz="1800" dirty="0"/>
          </a:p>
        </p:txBody>
      </p:sp>
      <p:sp>
        <p:nvSpPr>
          <p:cNvPr id="7" name="Shape 4"/>
          <p:cNvSpPr/>
          <p:nvPr/>
        </p:nvSpPr>
        <p:spPr>
          <a:xfrm>
            <a:off x="987552" y="4160520"/>
            <a:ext cx="1188720" cy="347472"/>
          </a:xfrm>
          <a:prstGeom prst="roundRect">
            <a:avLst>
              <a:gd name="adj" fmla="val 39474"/>
            </a:avLst>
          </a:prstGeom>
          <a:solidFill>
            <a:srgbClr val="20D5FF">
              <a:alpha val="18000"/>
            </a:srgbClr>
          </a:solidFill>
          <a:ln w="12700">
            <a:solidFill>
              <a:srgbClr val="20D5FF">
                <a:alpha val="65000"/>
              </a:srgbClr>
            </a:solidFill>
            <a:prstDash val="solid"/>
          </a:ln>
        </p:spPr>
        <p:txBody>
          <a:bodyPr/>
          <a:lstStyle/>
          <a:p>
            <a:endParaRPr lang="en-US"/>
          </a:p>
        </p:txBody>
      </p:sp>
      <p:sp>
        <p:nvSpPr>
          <p:cNvPr id="8" name="Text 5"/>
          <p:cNvSpPr/>
          <p:nvPr/>
        </p:nvSpPr>
        <p:spPr>
          <a:xfrm>
            <a:off x="1060704" y="4242816"/>
            <a:ext cx="1042416" cy="155448"/>
          </a:xfrm>
          <a:prstGeom prst="rect">
            <a:avLst/>
          </a:prstGeom>
          <a:noFill/>
          <a:ln/>
        </p:spPr>
        <p:txBody>
          <a:bodyPr wrap="square" lIns="0" tIns="0" rIns="0" bIns="0" rtlCol="0" anchor="ctr"/>
          <a:lstStyle/>
          <a:p>
            <a:pPr marL="0" indent="0" algn="ctr">
              <a:buNone/>
            </a:pPr>
            <a:r>
              <a:rPr lang="en-US" sz="1000" b="1" dirty="0">
                <a:solidFill>
                  <a:srgbClr val="F7FAFC"/>
                </a:solidFill>
              </a:rPr>
              <a:t>CONCEPTS</a:t>
            </a:r>
            <a:endParaRPr lang="en-US" sz="1000" dirty="0"/>
          </a:p>
        </p:txBody>
      </p:sp>
      <p:sp>
        <p:nvSpPr>
          <p:cNvPr id="9" name="Shape 6"/>
          <p:cNvSpPr/>
          <p:nvPr/>
        </p:nvSpPr>
        <p:spPr>
          <a:xfrm>
            <a:off x="2331720" y="4160520"/>
            <a:ext cx="1051560" cy="347472"/>
          </a:xfrm>
          <a:prstGeom prst="roundRect">
            <a:avLst>
              <a:gd name="adj" fmla="val 39474"/>
            </a:avLst>
          </a:prstGeom>
          <a:solidFill>
            <a:srgbClr val="A855F7">
              <a:alpha val="18000"/>
            </a:srgbClr>
          </a:solidFill>
          <a:ln w="12700">
            <a:solidFill>
              <a:srgbClr val="A855F7">
                <a:alpha val="65000"/>
              </a:srgbClr>
            </a:solidFill>
            <a:prstDash val="solid"/>
          </a:ln>
        </p:spPr>
        <p:txBody>
          <a:bodyPr/>
          <a:lstStyle/>
          <a:p>
            <a:endParaRPr lang="en-US"/>
          </a:p>
        </p:txBody>
      </p:sp>
      <p:sp>
        <p:nvSpPr>
          <p:cNvPr id="10" name="Text 7"/>
          <p:cNvSpPr/>
          <p:nvPr/>
        </p:nvSpPr>
        <p:spPr>
          <a:xfrm>
            <a:off x="2404872" y="4242816"/>
            <a:ext cx="905256" cy="155448"/>
          </a:xfrm>
          <a:prstGeom prst="rect">
            <a:avLst/>
          </a:prstGeom>
          <a:noFill/>
          <a:ln/>
        </p:spPr>
        <p:txBody>
          <a:bodyPr wrap="square" lIns="0" tIns="0" rIns="0" bIns="0" rtlCol="0" anchor="ctr"/>
          <a:lstStyle/>
          <a:p>
            <a:pPr marL="0" indent="0" algn="ctr">
              <a:buNone/>
            </a:pPr>
            <a:r>
              <a:rPr lang="en-US" sz="1000" b="1" dirty="0">
                <a:solidFill>
                  <a:srgbClr val="F7FAFC"/>
                </a:solidFill>
              </a:rPr>
              <a:t>METHODS</a:t>
            </a:r>
            <a:endParaRPr lang="en-US" sz="1000" dirty="0"/>
          </a:p>
        </p:txBody>
      </p:sp>
      <p:sp>
        <p:nvSpPr>
          <p:cNvPr id="11" name="Shape 8"/>
          <p:cNvSpPr/>
          <p:nvPr/>
        </p:nvSpPr>
        <p:spPr>
          <a:xfrm>
            <a:off x="3538728" y="4160520"/>
            <a:ext cx="1298448" cy="347472"/>
          </a:xfrm>
          <a:prstGeom prst="roundRect">
            <a:avLst>
              <a:gd name="adj" fmla="val 39474"/>
            </a:avLst>
          </a:prstGeom>
          <a:solidFill>
            <a:srgbClr val="52D3A3">
              <a:alpha val="18000"/>
            </a:srgbClr>
          </a:solidFill>
          <a:ln w="12700">
            <a:solidFill>
              <a:srgbClr val="52D3A3">
                <a:alpha val="65000"/>
              </a:srgbClr>
            </a:solidFill>
            <a:prstDash val="solid"/>
          </a:ln>
        </p:spPr>
        <p:txBody>
          <a:bodyPr/>
          <a:lstStyle/>
          <a:p>
            <a:endParaRPr lang="en-US"/>
          </a:p>
        </p:txBody>
      </p:sp>
      <p:sp>
        <p:nvSpPr>
          <p:cNvPr id="12" name="Text 9"/>
          <p:cNvSpPr/>
          <p:nvPr/>
        </p:nvSpPr>
        <p:spPr>
          <a:xfrm>
            <a:off x="3611880" y="4242816"/>
            <a:ext cx="1152144" cy="155448"/>
          </a:xfrm>
          <a:prstGeom prst="rect">
            <a:avLst/>
          </a:prstGeom>
          <a:noFill/>
          <a:ln/>
        </p:spPr>
        <p:txBody>
          <a:bodyPr wrap="square" lIns="0" tIns="0" rIns="0" bIns="0" rtlCol="0" anchor="ctr"/>
          <a:lstStyle/>
          <a:p>
            <a:pPr marL="0" indent="0" algn="ctr">
              <a:buNone/>
            </a:pPr>
            <a:r>
              <a:rPr lang="en-US" sz="1000" b="1" dirty="0">
                <a:solidFill>
                  <a:srgbClr val="F7FAFC"/>
                </a:solidFill>
              </a:rPr>
              <a:t>DECISIONS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48640" y="566928"/>
            <a:ext cx="11064240" cy="502920"/>
          </a:xfrm>
          <a:prstGeom prst="rect">
            <a:avLst/>
          </a:prstGeom>
          <a:noFill/>
          <a:ln/>
        </p:spPr>
        <p:txBody>
          <a:bodyPr wrap="square" lIns="0" tIns="0" rIns="0" bIns="0" rtlCol="0" anchor="ctr"/>
          <a:lstStyle/>
          <a:p>
            <a:pPr marL="0" indent="0">
              <a:buNone/>
            </a:pPr>
            <a:r>
              <a:rPr lang="en-US" sz="2700" b="1" dirty="0">
                <a:solidFill>
                  <a:srgbClr val="F7FAFC"/>
                </a:solidFill>
              </a:rPr>
              <a:t>What is fine-tuning?</a:t>
            </a:r>
            <a:endParaRPr lang="en-US" sz="2700" dirty="0"/>
          </a:p>
        </p:txBody>
      </p:sp>
      <p:sp>
        <p:nvSpPr>
          <p:cNvPr id="3" name="Text 1"/>
          <p:cNvSpPr/>
          <p:nvPr/>
        </p:nvSpPr>
        <p:spPr>
          <a:xfrm>
            <a:off x="566928" y="1078992"/>
            <a:ext cx="10789920" cy="310896"/>
          </a:xfrm>
          <a:prstGeom prst="rect">
            <a:avLst/>
          </a:prstGeom>
          <a:noFill/>
          <a:ln/>
        </p:spPr>
        <p:txBody>
          <a:bodyPr wrap="square" lIns="0" tIns="0" rIns="0" bIns="0" rtlCol="0" anchor="ctr"/>
          <a:lstStyle/>
          <a:p>
            <a:pPr marL="0" indent="0">
              <a:buNone/>
            </a:pPr>
            <a:r>
              <a:rPr lang="en-US" sz="1250" dirty="0">
                <a:solidFill>
                  <a:srgbClr val="A9BDD4"/>
                </a:solidFill>
              </a:rPr>
              <a:t>A pre-trained generalist becomes more specialized through additional training.</a:t>
            </a:r>
            <a:endParaRPr lang="en-US" sz="1250" dirty="0"/>
          </a:p>
        </p:txBody>
      </p:sp>
      <p:sp>
        <p:nvSpPr>
          <p:cNvPr id="4" name="Shape 2"/>
          <p:cNvSpPr/>
          <p:nvPr/>
        </p:nvSpPr>
        <p:spPr>
          <a:xfrm>
            <a:off x="685800" y="1828800"/>
            <a:ext cx="2926080" cy="3200400"/>
          </a:xfrm>
          <a:prstGeom prst="roundRect">
            <a:avLst/>
          </a:prstGeom>
          <a:solidFill>
            <a:srgbClr val="0E223C"/>
          </a:solidFill>
          <a:ln w="16510">
            <a:solidFill>
              <a:srgbClr val="3B82F6"/>
            </a:solidFill>
            <a:prstDash val="solid"/>
          </a:ln>
        </p:spPr>
        <p:txBody>
          <a:bodyPr/>
          <a:lstStyle/>
          <a:p>
            <a:endParaRPr lang="en-US"/>
          </a:p>
        </p:txBody>
      </p:sp>
      <p:sp>
        <p:nvSpPr>
          <p:cNvPr id="5" name="Text 3"/>
          <p:cNvSpPr/>
          <p:nvPr/>
        </p:nvSpPr>
        <p:spPr>
          <a:xfrm>
            <a:off x="1051560" y="2148840"/>
            <a:ext cx="2194560" cy="320040"/>
          </a:xfrm>
          <a:prstGeom prst="rect">
            <a:avLst/>
          </a:prstGeom>
          <a:noFill/>
          <a:ln/>
        </p:spPr>
        <p:txBody>
          <a:bodyPr wrap="square" lIns="0" tIns="0" rIns="0" bIns="0" rtlCol="0" anchor="ctr"/>
          <a:lstStyle/>
          <a:p>
            <a:pPr marL="0" indent="0" algn="ctr">
              <a:buNone/>
            </a:pPr>
            <a:r>
              <a:rPr lang="en-US" sz="1700" b="1" dirty="0">
                <a:solidFill>
                  <a:srgbClr val="F7FAFC"/>
                </a:solidFill>
              </a:rPr>
              <a:t>BASE MODEL</a:t>
            </a:r>
            <a:endParaRPr lang="en-US" sz="1700" dirty="0"/>
          </a:p>
        </p:txBody>
      </p:sp>
      <p:sp>
        <p:nvSpPr>
          <p:cNvPr id="6" name="Text 4"/>
          <p:cNvSpPr/>
          <p:nvPr/>
        </p:nvSpPr>
        <p:spPr>
          <a:xfrm>
            <a:off x="1051560" y="2788920"/>
            <a:ext cx="2194560" cy="1188720"/>
          </a:xfrm>
          <a:prstGeom prst="rect">
            <a:avLst/>
          </a:prstGeom>
          <a:noFill/>
          <a:ln/>
        </p:spPr>
        <p:txBody>
          <a:bodyPr wrap="square" lIns="0" tIns="0" rIns="0" bIns="0" rtlCol="0" anchor="ctr"/>
          <a:lstStyle/>
          <a:p>
            <a:pPr marL="0" indent="0" algn="ctr">
              <a:buNone/>
            </a:pPr>
            <a:r>
              <a:rPr lang="en-US" sz="1500" dirty="0">
                <a:solidFill>
                  <a:srgbClr val="A9BDD4"/>
                </a:solidFill>
              </a:rPr>
              <a:t>Broad language patterns</a:t>
            </a:r>
            <a:endParaRPr lang="en-US" sz="1500" dirty="0"/>
          </a:p>
          <a:p>
            <a:pPr marL="0" indent="0" algn="ctr">
              <a:buNone/>
            </a:pPr>
            <a:r>
              <a:rPr lang="en-US" sz="1500" dirty="0">
                <a:solidFill>
                  <a:srgbClr val="A9BDD4"/>
                </a:solidFill>
              </a:rPr>
              <a:t>General knowledge</a:t>
            </a:r>
            <a:endParaRPr lang="en-US" sz="1500" dirty="0"/>
          </a:p>
          <a:p>
            <a:pPr marL="0" indent="0" algn="ctr">
              <a:buNone/>
            </a:pPr>
            <a:r>
              <a:rPr lang="en-US" sz="1500" dirty="0">
                <a:solidFill>
                  <a:srgbClr val="A9BDD4"/>
                </a:solidFill>
              </a:rPr>
              <a:t>General behavior</a:t>
            </a:r>
            <a:endParaRPr lang="en-US" sz="1500" dirty="0"/>
          </a:p>
        </p:txBody>
      </p:sp>
      <p:sp>
        <p:nvSpPr>
          <p:cNvPr id="7" name="Text 5"/>
          <p:cNvSpPr/>
          <p:nvPr/>
        </p:nvSpPr>
        <p:spPr>
          <a:xfrm>
            <a:off x="3886200" y="2880360"/>
            <a:ext cx="548640" cy="548640"/>
          </a:xfrm>
          <a:prstGeom prst="rect">
            <a:avLst/>
          </a:prstGeom>
          <a:noFill/>
          <a:ln/>
        </p:spPr>
        <p:txBody>
          <a:bodyPr wrap="square" lIns="0" tIns="0" rIns="0" bIns="0" rtlCol="0" anchor="ctr"/>
          <a:lstStyle/>
          <a:p>
            <a:pPr marL="0" indent="0" algn="ctr">
              <a:buNone/>
            </a:pPr>
            <a:r>
              <a:rPr lang="en-US" sz="3400" b="1" dirty="0">
                <a:solidFill>
                  <a:srgbClr val="20D5FF"/>
                </a:solidFill>
              </a:rPr>
              <a:t>＋</a:t>
            </a:r>
            <a:endParaRPr lang="en-US" sz="3400" dirty="0"/>
          </a:p>
        </p:txBody>
      </p:sp>
      <p:sp>
        <p:nvSpPr>
          <p:cNvPr id="8" name="Shape 6"/>
          <p:cNvSpPr/>
          <p:nvPr/>
        </p:nvSpPr>
        <p:spPr>
          <a:xfrm>
            <a:off x="4572000" y="1828800"/>
            <a:ext cx="2926080" cy="3200400"/>
          </a:xfrm>
          <a:prstGeom prst="roundRect">
            <a:avLst/>
          </a:prstGeom>
          <a:solidFill>
            <a:srgbClr val="0E223C"/>
          </a:solidFill>
          <a:ln w="16510">
            <a:solidFill>
              <a:srgbClr val="A855F7"/>
            </a:solidFill>
            <a:prstDash val="solid"/>
          </a:ln>
        </p:spPr>
        <p:txBody>
          <a:bodyPr/>
          <a:lstStyle/>
          <a:p>
            <a:endParaRPr lang="en-US"/>
          </a:p>
        </p:txBody>
      </p:sp>
      <p:sp>
        <p:nvSpPr>
          <p:cNvPr id="9" name="Text 7"/>
          <p:cNvSpPr/>
          <p:nvPr/>
        </p:nvSpPr>
        <p:spPr>
          <a:xfrm>
            <a:off x="4892040" y="2148840"/>
            <a:ext cx="2286000" cy="320040"/>
          </a:xfrm>
          <a:prstGeom prst="rect">
            <a:avLst/>
          </a:prstGeom>
          <a:noFill/>
          <a:ln/>
        </p:spPr>
        <p:txBody>
          <a:bodyPr wrap="square" lIns="0" tIns="0" rIns="0" bIns="0" rtlCol="0" anchor="ctr"/>
          <a:lstStyle/>
          <a:p>
            <a:pPr marL="0" indent="0" algn="ctr">
              <a:buNone/>
            </a:pPr>
            <a:r>
              <a:rPr lang="en-US" sz="1700" b="1" dirty="0">
                <a:solidFill>
                  <a:srgbClr val="F7FAFC"/>
                </a:solidFill>
              </a:rPr>
              <a:t>FOCUSED DATA</a:t>
            </a:r>
            <a:endParaRPr lang="en-US" sz="1700" dirty="0"/>
          </a:p>
        </p:txBody>
      </p:sp>
      <p:sp>
        <p:nvSpPr>
          <p:cNvPr id="10" name="Text 8"/>
          <p:cNvSpPr/>
          <p:nvPr/>
        </p:nvSpPr>
        <p:spPr>
          <a:xfrm>
            <a:off x="4892040" y="2743200"/>
            <a:ext cx="2286000" cy="1325880"/>
          </a:xfrm>
          <a:prstGeom prst="rect">
            <a:avLst/>
          </a:prstGeom>
          <a:noFill/>
          <a:ln/>
        </p:spPr>
        <p:txBody>
          <a:bodyPr wrap="square" lIns="0" tIns="0" rIns="0" bIns="0" rtlCol="0" anchor="ctr"/>
          <a:lstStyle/>
          <a:p>
            <a:pPr marL="0" indent="0" algn="ctr">
              <a:buNone/>
            </a:pPr>
            <a:r>
              <a:rPr lang="en-US" sz="1500" dirty="0">
                <a:solidFill>
                  <a:srgbClr val="A9BDD4"/>
                </a:solidFill>
              </a:rPr>
              <a:t>Examples of desired</a:t>
            </a:r>
            <a:endParaRPr lang="en-US" sz="1500" dirty="0"/>
          </a:p>
          <a:p>
            <a:pPr marL="0" indent="0" algn="ctr">
              <a:buNone/>
            </a:pPr>
            <a:r>
              <a:rPr lang="en-US" sz="1500" dirty="0">
                <a:solidFill>
                  <a:srgbClr val="A9BDD4"/>
                </a:solidFill>
              </a:rPr>
              <a:t>inputs, outputs, tone,</a:t>
            </a:r>
            <a:endParaRPr lang="en-US" sz="1500" dirty="0"/>
          </a:p>
          <a:p>
            <a:pPr marL="0" indent="0" algn="ctr">
              <a:buNone/>
            </a:pPr>
            <a:r>
              <a:rPr lang="en-US" sz="1500" dirty="0">
                <a:solidFill>
                  <a:srgbClr val="A9BDD4"/>
                </a:solidFill>
              </a:rPr>
              <a:t>or domain patterns</a:t>
            </a:r>
            <a:endParaRPr lang="en-US" sz="1500" dirty="0"/>
          </a:p>
        </p:txBody>
      </p:sp>
      <p:sp>
        <p:nvSpPr>
          <p:cNvPr id="11" name="Text 9"/>
          <p:cNvSpPr/>
          <p:nvPr/>
        </p:nvSpPr>
        <p:spPr>
          <a:xfrm>
            <a:off x="7772400" y="2834640"/>
            <a:ext cx="640080" cy="548640"/>
          </a:xfrm>
          <a:prstGeom prst="rect">
            <a:avLst/>
          </a:prstGeom>
          <a:noFill/>
          <a:ln/>
        </p:spPr>
        <p:txBody>
          <a:bodyPr wrap="square" lIns="0" tIns="0" rIns="0" bIns="0" rtlCol="0" anchor="ctr"/>
          <a:lstStyle/>
          <a:p>
            <a:pPr marL="0" indent="0" algn="ctr">
              <a:buNone/>
            </a:pPr>
            <a:r>
              <a:rPr lang="en-US" sz="3500" b="1" dirty="0">
                <a:solidFill>
                  <a:srgbClr val="20D5FF"/>
                </a:solidFill>
              </a:rPr>
              <a:t>→</a:t>
            </a:r>
            <a:endParaRPr lang="en-US" sz="3500" dirty="0"/>
          </a:p>
        </p:txBody>
      </p:sp>
      <p:sp>
        <p:nvSpPr>
          <p:cNvPr id="12" name="Shape 10"/>
          <p:cNvSpPr/>
          <p:nvPr/>
        </p:nvSpPr>
        <p:spPr>
          <a:xfrm>
            <a:off x="8595360" y="1828800"/>
            <a:ext cx="2926080" cy="3200400"/>
          </a:xfrm>
          <a:prstGeom prst="roundRect">
            <a:avLst/>
          </a:prstGeom>
          <a:solidFill>
            <a:srgbClr val="143252"/>
          </a:solidFill>
          <a:ln w="21590">
            <a:solidFill>
              <a:srgbClr val="52D3A3"/>
            </a:solidFill>
            <a:prstDash val="solid"/>
          </a:ln>
        </p:spPr>
        <p:txBody>
          <a:bodyPr/>
          <a:lstStyle/>
          <a:p>
            <a:endParaRPr lang="en-US"/>
          </a:p>
        </p:txBody>
      </p:sp>
      <p:sp>
        <p:nvSpPr>
          <p:cNvPr id="13" name="Text 11"/>
          <p:cNvSpPr/>
          <p:nvPr/>
        </p:nvSpPr>
        <p:spPr>
          <a:xfrm>
            <a:off x="8823960" y="2148840"/>
            <a:ext cx="2468880" cy="502920"/>
          </a:xfrm>
          <a:prstGeom prst="rect">
            <a:avLst/>
          </a:prstGeom>
          <a:noFill/>
          <a:ln/>
        </p:spPr>
        <p:txBody>
          <a:bodyPr wrap="square" lIns="0" tIns="0" rIns="0" bIns="0" rtlCol="0" anchor="ctr"/>
          <a:lstStyle/>
          <a:p>
            <a:pPr marL="0" indent="0" algn="ctr">
              <a:buNone/>
            </a:pPr>
            <a:r>
              <a:rPr lang="en-US" sz="1700" b="1" dirty="0">
                <a:solidFill>
                  <a:srgbClr val="F7FAFC"/>
                </a:solidFill>
              </a:rPr>
              <a:t>SPECIALIZED MODEL</a:t>
            </a:r>
            <a:endParaRPr lang="en-US" sz="1700" dirty="0"/>
          </a:p>
        </p:txBody>
      </p:sp>
      <p:sp>
        <p:nvSpPr>
          <p:cNvPr id="14" name="Text 12"/>
          <p:cNvSpPr/>
          <p:nvPr/>
        </p:nvSpPr>
        <p:spPr>
          <a:xfrm>
            <a:off x="8915400" y="2788920"/>
            <a:ext cx="2286000" cy="1188720"/>
          </a:xfrm>
          <a:prstGeom prst="rect">
            <a:avLst/>
          </a:prstGeom>
          <a:noFill/>
          <a:ln/>
        </p:spPr>
        <p:txBody>
          <a:bodyPr wrap="square" lIns="0" tIns="0" rIns="0" bIns="0" rtlCol="0" anchor="ctr"/>
          <a:lstStyle/>
          <a:p>
            <a:pPr marL="0" indent="0" algn="ctr">
              <a:buNone/>
            </a:pPr>
            <a:r>
              <a:rPr lang="en-US" sz="1500" dirty="0">
                <a:solidFill>
                  <a:srgbClr val="A9BDD4"/>
                </a:solidFill>
              </a:rPr>
              <a:t>Behavior is adapted</a:t>
            </a:r>
            <a:endParaRPr lang="en-US" sz="1500" dirty="0"/>
          </a:p>
          <a:p>
            <a:pPr marL="0" indent="0" algn="ctr">
              <a:buNone/>
            </a:pPr>
            <a:r>
              <a:rPr lang="en-US" sz="1500" dirty="0">
                <a:solidFill>
                  <a:srgbClr val="A9BDD4"/>
                </a:solidFill>
              </a:rPr>
              <a:t>for a task, domain,</a:t>
            </a:r>
            <a:endParaRPr lang="en-US" sz="1500" dirty="0"/>
          </a:p>
          <a:p>
            <a:pPr marL="0" indent="0" algn="ctr">
              <a:buNone/>
            </a:pPr>
            <a:r>
              <a:rPr lang="en-US" sz="1500" dirty="0">
                <a:solidFill>
                  <a:srgbClr val="A9BDD4"/>
                </a:solidFill>
              </a:rPr>
              <a:t>format, or style</a:t>
            </a:r>
            <a:endParaRPr lang="en-US" sz="1500" dirty="0"/>
          </a:p>
        </p:txBody>
      </p:sp>
      <p:sp>
        <p:nvSpPr>
          <p:cNvPr id="25" name="Slide Number Placeholder 0"/>
          <p:cNvSpPr>
            <a:spLocks noGrp="1"/>
          </p:cNvSpPr>
          <p:nvPr>
            <p:ph type="sldNum" sz="quarter" idx="4294967295"/>
          </p:nvPr>
        </p:nvSpPr>
        <p:spPr>
          <a:xfrm>
            <a:off x="11631613" y="6510338"/>
            <a:ext cx="800100" cy="300037"/>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548640" y="566928"/>
            <a:ext cx="11064240" cy="502920"/>
          </a:xfrm>
          <a:prstGeom prst="rect">
            <a:avLst/>
          </a:prstGeom>
          <a:noFill/>
          <a:ln/>
        </p:spPr>
        <p:txBody>
          <a:bodyPr wrap="square" lIns="0" tIns="0" rIns="0" bIns="0" rtlCol="0" anchor="ctr"/>
          <a:lstStyle/>
          <a:p>
            <a:pPr marL="0" indent="0">
              <a:buNone/>
            </a:pPr>
            <a:r>
              <a:rPr lang="en-US" sz="2700" b="1" dirty="0">
                <a:solidFill>
                  <a:srgbClr val="F7FAFC"/>
                </a:solidFill>
              </a:rPr>
              <a:t>Why use fine-tuning?</a:t>
            </a:r>
            <a:endParaRPr lang="en-US" sz="2700" dirty="0"/>
          </a:p>
        </p:txBody>
      </p:sp>
      <p:sp>
        <p:nvSpPr>
          <p:cNvPr id="3" name="Text 1"/>
          <p:cNvSpPr/>
          <p:nvPr/>
        </p:nvSpPr>
        <p:spPr>
          <a:xfrm>
            <a:off x="566928" y="1078992"/>
            <a:ext cx="10789920" cy="310896"/>
          </a:xfrm>
          <a:prstGeom prst="rect">
            <a:avLst/>
          </a:prstGeom>
          <a:noFill/>
          <a:ln/>
        </p:spPr>
        <p:txBody>
          <a:bodyPr wrap="square" lIns="0" tIns="0" rIns="0" bIns="0" rtlCol="0" anchor="ctr"/>
          <a:lstStyle/>
          <a:p>
            <a:pPr marL="0" indent="0">
              <a:buNone/>
            </a:pPr>
            <a:r>
              <a:rPr lang="en-US" sz="1250" dirty="0">
                <a:solidFill>
                  <a:srgbClr val="A9BDD4"/>
                </a:solidFill>
              </a:rPr>
              <a:t>Use it when desired behavior should be consistent across many requests.</a:t>
            </a:r>
            <a:endParaRPr lang="en-US" sz="1250" dirty="0"/>
          </a:p>
        </p:txBody>
      </p:sp>
      <p:sp>
        <p:nvSpPr>
          <p:cNvPr id="4" name="Shape 2"/>
          <p:cNvSpPr/>
          <p:nvPr/>
        </p:nvSpPr>
        <p:spPr>
          <a:xfrm>
            <a:off x="640080" y="1691640"/>
            <a:ext cx="3474720" cy="1828800"/>
          </a:xfrm>
          <a:prstGeom prst="roundRect">
            <a:avLst>
              <a:gd name="adj" fmla="val 4000"/>
            </a:avLst>
          </a:prstGeom>
          <a:solidFill>
            <a:srgbClr val="0E223C">
              <a:alpha val="97000"/>
            </a:srgbClr>
          </a:solidFill>
          <a:ln w="12700">
            <a:solidFill>
              <a:srgbClr val="21476B"/>
            </a:solidFill>
            <a:prstDash val="solid"/>
          </a:ln>
        </p:spPr>
        <p:txBody>
          <a:bodyPr/>
          <a:lstStyle/>
          <a:p>
            <a:endParaRPr lang="en-US"/>
          </a:p>
        </p:txBody>
      </p:sp>
      <p:sp>
        <p:nvSpPr>
          <p:cNvPr id="5" name="Shape 3"/>
          <p:cNvSpPr/>
          <p:nvPr/>
        </p:nvSpPr>
        <p:spPr>
          <a:xfrm>
            <a:off x="658368" y="1737360"/>
            <a:ext cx="64008" cy="1737360"/>
          </a:xfrm>
          <a:prstGeom prst="rect">
            <a:avLst/>
          </a:prstGeom>
          <a:solidFill>
            <a:srgbClr val="20D5FF"/>
          </a:solidFill>
          <a:ln w="12700">
            <a:solidFill>
              <a:srgbClr val="20D5FF"/>
            </a:solidFill>
            <a:prstDash val="solid"/>
          </a:ln>
        </p:spPr>
        <p:txBody>
          <a:bodyPr/>
          <a:lstStyle/>
          <a:p>
            <a:endParaRPr lang="en-US"/>
          </a:p>
        </p:txBody>
      </p:sp>
      <p:sp>
        <p:nvSpPr>
          <p:cNvPr id="6" name="Text 4"/>
          <p:cNvSpPr/>
          <p:nvPr/>
        </p:nvSpPr>
        <p:spPr>
          <a:xfrm>
            <a:off x="868680" y="1856232"/>
            <a:ext cx="3108960" cy="274320"/>
          </a:xfrm>
          <a:prstGeom prst="rect">
            <a:avLst/>
          </a:prstGeom>
          <a:noFill/>
          <a:ln/>
        </p:spPr>
        <p:txBody>
          <a:bodyPr wrap="square" lIns="0" tIns="0" rIns="0" bIns="0" rtlCol="0" anchor="ctr"/>
          <a:lstStyle/>
          <a:p>
            <a:pPr marL="0" indent="0">
              <a:buNone/>
            </a:pPr>
            <a:r>
              <a:rPr lang="en-US" sz="1500" b="1" dirty="0">
                <a:solidFill>
                  <a:srgbClr val="F7FAFC"/>
                </a:solidFill>
              </a:rPr>
              <a:t>Tone &amp; style</a:t>
            </a:r>
            <a:endParaRPr lang="en-US" sz="1500" dirty="0"/>
          </a:p>
        </p:txBody>
      </p:sp>
      <p:sp>
        <p:nvSpPr>
          <p:cNvPr id="7" name="Text 5"/>
          <p:cNvSpPr/>
          <p:nvPr/>
        </p:nvSpPr>
        <p:spPr>
          <a:xfrm>
            <a:off x="868680" y="2221992"/>
            <a:ext cx="3063240" cy="1170432"/>
          </a:xfrm>
          <a:prstGeom prst="rect">
            <a:avLst/>
          </a:prstGeom>
          <a:noFill/>
          <a:ln/>
        </p:spPr>
        <p:txBody>
          <a:bodyPr wrap="square" lIns="0" tIns="0" rIns="0" bIns="0" rtlCol="0" anchor="ctr">
            <a:normAutofit/>
          </a:bodyPr>
          <a:lstStyle/>
          <a:p>
            <a:pPr marL="0" indent="0">
              <a:buNone/>
            </a:pPr>
            <a:r>
              <a:rPr lang="en-US" sz="1150" dirty="0">
                <a:solidFill>
                  <a:srgbClr val="A9BDD4"/>
                </a:solidFill>
              </a:rPr>
              <a:t>Teach brand voice, response format, vocabulary, or a professional writing style.</a:t>
            </a:r>
            <a:endParaRPr lang="en-US" sz="1150" dirty="0"/>
          </a:p>
        </p:txBody>
      </p:sp>
      <p:sp>
        <p:nvSpPr>
          <p:cNvPr id="8" name="Shape 6"/>
          <p:cNvSpPr/>
          <p:nvPr/>
        </p:nvSpPr>
        <p:spPr>
          <a:xfrm>
            <a:off x="4343400" y="1691640"/>
            <a:ext cx="3474720" cy="1828800"/>
          </a:xfrm>
          <a:prstGeom prst="roundRect">
            <a:avLst>
              <a:gd name="adj" fmla="val 4000"/>
            </a:avLst>
          </a:prstGeom>
          <a:solidFill>
            <a:srgbClr val="0E223C">
              <a:alpha val="97000"/>
            </a:srgbClr>
          </a:solidFill>
          <a:ln w="12700">
            <a:solidFill>
              <a:srgbClr val="21476B"/>
            </a:solidFill>
            <a:prstDash val="solid"/>
          </a:ln>
        </p:spPr>
        <p:txBody>
          <a:bodyPr/>
          <a:lstStyle/>
          <a:p>
            <a:endParaRPr lang="en-US"/>
          </a:p>
        </p:txBody>
      </p:sp>
      <p:sp>
        <p:nvSpPr>
          <p:cNvPr id="9" name="Shape 7"/>
          <p:cNvSpPr/>
          <p:nvPr/>
        </p:nvSpPr>
        <p:spPr>
          <a:xfrm>
            <a:off x="4361688" y="1737360"/>
            <a:ext cx="64008" cy="1737360"/>
          </a:xfrm>
          <a:prstGeom prst="rect">
            <a:avLst/>
          </a:prstGeom>
          <a:solidFill>
            <a:srgbClr val="A855F7"/>
          </a:solidFill>
          <a:ln w="12700">
            <a:solidFill>
              <a:srgbClr val="A855F7"/>
            </a:solidFill>
            <a:prstDash val="solid"/>
          </a:ln>
        </p:spPr>
        <p:txBody>
          <a:bodyPr/>
          <a:lstStyle/>
          <a:p>
            <a:endParaRPr lang="en-US"/>
          </a:p>
        </p:txBody>
      </p:sp>
      <p:sp>
        <p:nvSpPr>
          <p:cNvPr id="10" name="Text 8"/>
          <p:cNvSpPr/>
          <p:nvPr/>
        </p:nvSpPr>
        <p:spPr>
          <a:xfrm>
            <a:off x="4572000" y="1856232"/>
            <a:ext cx="3108960" cy="274320"/>
          </a:xfrm>
          <a:prstGeom prst="rect">
            <a:avLst/>
          </a:prstGeom>
          <a:noFill/>
          <a:ln/>
        </p:spPr>
        <p:txBody>
          <a:bodyPr wrap="square" lIns="0" tIns="0" rIns="0" bIns="0" rtlCol="0" anchor="ctr"/>
          <a:lstStyle/>
          <a:p>
            <a:pPr marL="0" indent="0">
              <a:buNone/>
            </a:pPr>
            <a:r>
              <a:rPr lang="en-US" sz="1500" b="1" dirty="0">
                <a:solidFill>
                  <a:srgbClr val="F7FAFC"/>
                </a:solidFill>
              </a:rPr>
              <a:t>Specialized behavior</a:t>
            </a:r>
            <a:endParaRPr lang="en-US" sz="1500" dirty="0"/>
          </a:p>
        </p:txBody>
      </p:sp>
      <p:sp>
        <p:nvSpPr>
          <p:cNvPr id="11" name="Text 9"/>
          <p:cNvSpPr/>
          <p:nvPr/>
        </p:nvSpPr>
        <p:spPr>
          <a:xfrm>
            <a:off x="4572000" y="2221992"/>
            <a:ext cx="3063240" cy="1170432"/>
          </a:xfrm>
          <a:prstGeom prst="rect">
            <a:avLst/>
          </a:prstGeom>
          <a:noFill/>
          <a:ln/>
        </p:spPr>
        <p:txBody>
          <a:bodyPr wrap="square" lIns="0" tIns="0" rIns="0" bIns="0" rtlCol="0" anchor="ctr">
            <a:normAutofit/>
          </a:bodyPr>
          <a:lstStyle/>
          <a:p>
            <a:pPr marL="0" indent="0">
              <a:buNone/>
            </a:pPr>
            <a:r>
              <a:rPr lang="en-US" sz="1150" dirty="0">
                <a:solidFill>
                  <a:srgbClr val="A9BDD4"/>
                </a:solidFill>
              </a:rPr>
              <a:t>Adapt for classification, extraction, code conventions, or domain terminology.</a:t>
            </a:r>
            <a:endParaRPr lang="en-US" sz="1150" dirty="0"/>
          </a:p>
        </p:txBody>
      </p:sp>
      <p:sp>
        <p:nvSpPr>
          <p:cNvPr id="12" name="Shape 10"/>
          <p:cNvSpPr/>
          <p:nvPr/>
        </p:nvSpPr>
        <p:spPr>
          <a:xfrm>
            <a:off x="8046720" y="1691640"/>
            <a:ext cx="3474720" cy="1828800"/>
          </a:xfrm>
          <a:prstGeom prst="roundRect">
            <a:avLst>
              <a:gd name="adj" fmla="val 4000"/>
            </a:avLst>
          </a:prstGeom>
          <a:solidFill>
            <a:srgbClr val="0E223C">
              <a:alpha val="97000"/>
            </a:srgbClr>
          </a:solidFill>
          <a:ln w="12700">
            <a:solidFill>
              <a:srgbClr val="21476B"/>
            </a:solidFill>
            <a:prstDash val="solid"/>
          </a:ln>
        </p:spPr>
        <p:txBody>
          <a:bodyPr/>
          <a:lstStyle/>
          <a:p>
            <a:endParaRPr lang="en-US"/>
          </a:p>
        </p:txBody>
      </p:sp>
      <p:sp>
        <p:nvSpPr>
          <p:cNvPr id="13" name="Shape 11"/>
          <p:cNvSpPr/>
          <p:nvPr/>
        </p:nvSpPr>
        <p:spPr>
          <a:xfrm>
            <a:off x="8065008" y="1737360"/>
            <a:ext cx="64008" cy="1737360"/>
          </a:xfrm>
          <a:prstGeom prst="rect">
            <a:avLst/>
          </a:prstGeom>
          <a:solidFill>
            <a:srgbClr val="52D3A3"/>
          </a:solidFill>
          <a:ln w="12700">
            <a:solidFill>
              <a:srgbClr val="52D3A3"/>
            </a:solidFill>
            <a:prstDash val="solid"/>
          </a:ln>
        </p:spPr>
        <p:txBody>
          <a:bodyPr/>
          <a:lstStyle/>
          <a:p>
            <a:endParaRPr lang="en-US"/>
          </a:p>
        </p:txBody>
      </p:sp>
      <p:sp>
        <p:nvSpPr>
          <p:cNvPr id="14" name="Text 12"/>
          <p:cNvSpPr/>
          <p:nvPr/>
        </p:nvSpPr>
        <p:spPr>
          <a:xfrm>
            <a:off x="8275320" y="1856232"/>
            <a:ext cx="3108960" cy="274320"/>
          </a:xfrm>
          <a:prstGeom prst="rect">
            <a:avLst/>
          </a:prstGeom>
          <a:noFill/>
          <a:ln/>
        </p:spPr>
        <p:txBody>
          <a:bodyPr wrap="square" lIns="0" tIns="0" rIns="0" bIns="0" rtlCol="0" anchor="ctr"/>
          <a:lstStyle/>
          <a:p>
            <a:pPr marL="0" indent="0">
              <a:buNone/>
            </a:pPr>
            <a:r>
              <a:rPr lang="en-US" sz="1500" b="1" dirty="0">
                <a:solidFill>
                  <a:srgbClr val="F7FAFC"/>
                </a:solidFill>
              </a:rPr>
              <a:t>Shorter prompts</a:t>
            </a:r>
            <a:endParaRPr lang="en-US" sz="1500" dirty="0"/>
          </a:p>
        </p:txBody>
      </p:sp>
      <p:sp>
        <p:nvSpPr>
          <p:cNvPr id="15" name="Text 13"/>
          <p:cNvSpPr/>
          <p:nvPr/>
        </p:nvSpPr>
        <p:spPr>
          <a:xfrm>
            <a:off x="8275320" y="2221992"/>
            <a:ext cx="3063240" cy="1170432"/>
          </a:xfrm>
          <a:prstGeom prst="rect">
            <a:avLst/>
          </a:prstGeom>
          <a:noFill/>
          <a:ln/>
        </p:spPr>
        <p:txBody>
          <a:bodyPr wrap="square" lIns="0" tIns="0" rIns="0" bIns="0" rtlCol="0" anchor="ctr">
            <a:normAutofit/>
          </a:bodyPr>
          <a:lstStyle/>
          <a:p>
            <a:pPr marL="0" indent="0">
              <a:buNone/>
            </a:pPr>
            <a:r>
              <a:rPr lang="en-US" sz="1150" dirty="0">
                <a:solidFill>
                  <a:srgbClr val="A9BDD4"/>
                </a:solidFill>
              </a:rPr>
              <a:t>Reduce repeated instructions by learning stable patterns from examples.</a:t>
            </a:r>
            <a:endParaRPr lang="en-US" sz="1150" dirty="0"/>
          </a:p>
        </p:txBody>
      </p:sp>
      <p:sp>
        <p:nvSpPr>
          <p:cNvPr id="16" name="Shape 14"/>
          <p:cNvSpPr/>
          <p:nvPr/>
        </p:nvSpPr>
        <p:spPr>
          <a:xfrm>
            <a:off x="822960" y="4069080"/>
            <a:ext cx="10515600" cy="1325880"/>
          </a:xfrm>
          <a:prstGeom prst="roundRect">
            <a:avLst/>
          </a:prstGeom>
          <a:solidFill>
            <a:srgbClr val="0B1D32"/>
          </a:solidFill>
          <a:ln w="12700">
            <a:solidFill>
              <a:srgbClr val="F6C85F"/>
            </a:solidFill>
            <a:prstDash val="solid"/>
          </a:ln>
        </p:spPr>
        <p:txBody>
          <a:bodyPr/>
          <a:lstStyle/>
          <a:p>
            <a:endParaRPr lang="en-US"/>
          </a:p>
        </p:txBody>
      </p:sp>
      <p:sp>
        <p:nvSpPr>
          <p:cNvPr id="17" name="Text 15"/>
          <p:cNvSpPr/>
          <p:nvPr/>
        </p:nvSpPr>
        <p:spPr>
          <a:xfrm>
            <a:off x="1143000" y="4407408"/>
            <a:ext cx="3840480" cy="320040"/>
          </a:xfrm>
          <a:prstGeom prst="rect">
            <a:avLst/>
          </a:prstGeom>
          <a:noFill/>
          <a:ln/>
        </p:spPr>
        <p:txBody>
          <a:bodyPr wrap="square" lIns="0" tIns="0" rIns="0" bIns="0" rtlCol="0" anchor="ctr"/>
          <a:lstStyle/>
          <a:p>
            <a:pPr marL="0" indent="0">
              <a:buNone/>
            </a:pPr>
            <a:r>
              <a:rPr lang="en-US" sz="1900" b="1" dirty="0">
                <a:solidFill>
                  <a:srgbClr val="F6C85F"/>
                </a:solidFill>
              </a:rPr>
              <a:t>Best fit: repeated patterns and behavior</a:t>
            </a:r>
            <a:endParaRPr lang="en-US" sz="1900" dirty="0"/>
          </a:p>
        </p:txBody>
      </p:sp>
      <p:sp>
        <p:nvSpPr>
          <p:cNvPr id="18" name="Text 16"/>
          <p:cNvSpPr/>
          <p:nvPr/>
        </p:nvSpPr>
        <p:spPr>
          <a:xfrm>
            <a:off x="5120640" y="4389120"/>
            <a:ext cx="5669280" cy="502920"/>
          </a:xfrm>
          <a:prstGeom prst="rect">
            <a:avLst/>
          </a:prstGeom>
          <a:noFill/>
          <a:ln/>
        </p:spPr>
        <p:txBody>
          <a:bodyPr wrap="square" lIns="0" tIns="0" rIns="0" bIns="0" rtlCol="0" anchor="ctr"/>
          <a:lstStyle/>
          <a:p>
            <a:pPr marL="0" indent="0">
              <a:buNone/>
            </a:pPr>
            <a:r>
              <a:rPr lang="en-US" sz="1600" dirty="0">
                <a:solidFill>
                  <a:srgbClr val="F7FAFC"/>
                </a:solidFill>
              </a:rPr>
              <a:t>Not the first choice for rapidly changing facts or content that must be cited.</a:t>
            </a:r>
            <a:endParaRPr lang="en-US" sz="1600" dirty="0"/>
          </a:p>
        </p:txBody>
      </p:sp>
      <p:sp>
        <p:nvSpPr>
          <p:cNvPr id="25" name="Slide Number Placeholder 0"/>
          <p:cNvSpPr>
            <a:spLocks noGrp="1"/>
          </p:cNvSpPr>
          <p:nvPr>
            <p:ph type="sldNum" sz="quarter" idx="4294967295"/>
          </p:nvPr>
        </p:nvSpPr>
        <p:spPr>
          <a:xfrm>
            <a:off x="11631613" y="6510338"/>
            <a:ext cx="800100" cy="300037"/>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48640" y="566928"/>
            <a:ext cx="11064240" cy="502920"/>
          </a:xfrm>
          <a:prstGeom prst="rect">
            <a:avLst/>
          </a:prstGeom>
          <a:noFill/>
          <a:ln/>
        </p:spPr>
        <p:txBody>
          <a:bodyPr wrap="square" lIns="0" tIns="0" rIns="0" bIns="0" rtlCol="0" anchor="ctr"/>
          <a:lstStyle/>
          <a:p>
            <a:pPr marL="0" indent="0">
              <a:buNone/>
            </a:pPr>
            <a:r>
              <a:rPr lang="en-US" sz="2700" b="1" dirty="0">
                <a:solidFill>
                  <a:srgbClr val="F7FAFC"/>
                </a:solidFill>
              </a:rPr>
              <a:t>How fine-tuning works</a:t>
            </a:r>
            <a:endParaRPr lang="en-US" sz="2700" dirty="0"/>
          </a:p>
        </p:txBody>
      </p:sp>
      <p:sp>
        <p:nvSpPr>
          <p:cNvPr id="3" name="Text 1"/>
          <p:cNvSpPr/>
          <p:nvPr/>
        </p:nvSpPr>
        <p:spPr>
          <a:xfrm>
            <a:off x="566928" y="1078992"/>
            <a:ext cx="10789920" cy="310896"/>
          </a:xfrm>
          <a:prstGeom prst="rect">
            <a:avLst/>
          </a:prstGeom>
          <a:noFill/>
          <a:ln/>
        </p:spPr>
        <p:txBody>
          <a:bodyPr wrap="square" lIns="0" tIns="0" rIns="0" bIns="0" rtlCol="0" anchor="ctr"/>
          <a:lstStyle/>
          <a:p>
            <a:pPr marL="0" indent="0">
              <a:buNone/>
            </a:pPr>
            <a:r>
              <a:rPr lang="en-US" sz="1250" dirty="0">
                <a:solidFill>
                  <a:srgbClr val="A9BDD4"/>
                </a:solidFill>
              </a:rPr>
              <a:t>The training loop compares a model response with a target and adjusts trainable parameters.</a:t>
            </a:r>
            <a:endParaRPr lang="en-US" sz="1250" dirty="0"/>
          </a:p>
        </p:txBody>
      </p:sp>
      <p:sp>
        <p:nvSpPr>
          <p:cNvPr id="4" name="Shape 2"/>
          <p:cNvSpPr/>
          <p:nvPr/>
        </p:nvSpPr>
        <p:spPr>
          <a:xfrm>
            <a:off x="685800" y="1920240"/>
            <a:ext cx="1417320" cy="1417320"/>
          </a:xfrm>
          <a:prstGeom prst="ellipse">
            <a:avLst/>
          </a:prstGeom>
          <a:solidFill>
            <a:srgbClr val="3B82F6">
              <a:alpha val="90000"/>
            </a:srgbClr>
          </a:solidFill>
          <a:ln w="12700">
            <a:solidFill>
              <a:srgbClr val="F7FAFC">
                <a:alpha val="35000"/>
              </a:srgbClr>
            </a:solidFill>
            <a:prstDash val="solid"/>
          </a:ln>
        </p:spPr>
      </p:sp>
      <p:sp>
        <p:nvSpPr>
          <p:cNvPr id="5" name="Text 3"/>
          <p:cNvSpPr/>
          <p:nvPr/>
        </p:nvSpPr>
        <p:spPr>
          <a:xfrm>
            <a:off x="1124712" y="2249424"/>
            <a:ext cx="548640" cy="411480"/>
          </a:xfrm>
          <a:prstGeom prst="rect">
            <a:avLst/>
          </a:prstGeom>
          <a:noFill/>
          <a:ln/>
        </p:spPr>
        <p:txBody>
          <a:bodyPr wrap="square" lIns="0" tIns="0" rIns="0" bIns="0" rtlCol="0" anchor="ctr"/>
          <a:lstStyle/>
          <a:p>
            <a:pPr marL="0" indent="0" algn="ctr">
              <a:buNone/>
            </a:pPr>
            <a:r>
              <a:rPr lang="en-US" sz="2400" b="1" dirty="0">
                <a:solidFill>
                  <a:srgbClr val="F7FAFC"/>
                </a:solidFill>
              </a:rPr>
              <a:t>1</a:t>
            </a:r>
            <a:endParaRPr lang="en-US" sz="2400" dirty="0"/>
          </a:p>
        </p:txBody>
      </p:sp>
      <p:sp>
        <p:nvSpPr>
          <p:cNvPr id="6" name="Text 4"/>
          <p:cNvSpPr/>
          <p:nvPr/>
        </p:nvSpPr>
        <p:spPr>
          <a:xfrm>
            <a:off x="502920" y="3547872"/>
            <a:ext cx="1783080" cy="502920"/>
          </a:xfrm>
          <a:prstGeom prst="rect">
            <a:avLst/>
          </a:prstGeom>
          <a:noFill/>
          <a:ln/>
        </p:spPr>
        <p:txBody>
          <a:bodyPr wrap="square" lIns="0" tIns="0" rIns="0" bIns="0" rtlCol="0" anchor="ctr"/>
          <a:lstStyle/>
          <a:p>
            <a:pPr marL="0" indent="0" algn="ctr">
              <a:buNone/>
            </a:pPr>
            <a:r>
              <a:rPr lang="en-US" sz="1400" b="1" dirty="0">
                <a:solidFill>
                  <a:srgbClr val="F7FAFC"/>
                </a:solidFill>
              </a:rPr>
              <a:t>Base model</a:t>
            </a:r>
            <a:endParaRPr lang="en-US" sz="1400" dirty="0"/>
          </a:p>
        </p:txBody>
      </p:sp>
      <p:sp>
        <p:nvSpPr>
          <p:cNvPr id="7" name="Text 5"/>
          <p:cNvSpPr/>
          <p:nvPr/>
        </p:nvSpPr>
        <p:spPr>
          <a:xfrm>
            <a:off x="2221992" y="2331720"/>
            <a:ext cx="502920" cy="502920"/>
          </a:xfrm>
          <a:prstGeom prst="rect">
            <a:avLst/>
          </a:prstGeom>
          <a:noFill/>
          <a:ln/>
        </p:spPr>
        <p:txBody>
          <a:bodyPr wrap="square" lIns="0" tIns="0" rIns="0" bIns="0" rtlCol="0" anchor="ctr"/>
          <a:lstStyle/>
          <a:p>
            <a:pPr marL="0" indent="0" algn="ctr">
              <a:buNone/>
            </a:pPr>
            <a:r>
              <a:rPr lang="en-US" sz="2800" dirty="0">
                <a:solidFill>
                  <a:srgbClr val="20D5FF"/>
                </a:solidFill>
              </a:rPr>
              <a:t>→</a:t>
            </a:r>
            <a:endParaRPr lang="en-US" sz="2800" dirty="0"/>
          </a:p>
        </p:txBody>
      </p:sp>
      <p:sp>
        <p:nvSpPr>
          <p:cNvPr id="8" name="Shape 6"/>
          <p:cNvSpPr/>
          <p:nvPr/>
        </p:nvSpPr>
        <p:spPr>
          <a:xfrm>
            <a:off x="2971800" y="1920240"/>
            <a:ext cx="1417320" cy="1417320"/>
          </a:xfrm>
          <a:prstGeom prst="ellipse">
            <a:avLst/>
          </a:prstGeom>
          <a:solidFill>
            <a:srgbClr val="3B82F6">
              <a:alpha val="90000"/>
            </a:srgbClr>
          </a:solidFill>
          <a:ln w="12700">
            <a:solidFill>
              <a:srgbClr val="F7FAFC">
                <a:alpha val="35000"/>
              </a:srgbClr>
            </a:solidFill>
            <a:prstDash val="solid"/>
          </a:ln>
        </p:spPr>
      </p:sp>
      <p:sp>
        <p:nvSpPr>
          <p:cNvPr id="9" name="Text 7"/>
          <p:cNvSpPr/>
          <p:nvPr/>
        </p:nvSpPr>
        <p:spPr>
          <a:xfrm>
            <a:off x="3410712" y="2249424"/>
            <a:ext cx="548640" cy="411480"/>
          </a:xfrm>
          <a:prstGeom prst="rect">
            <a:avLst/>
          </a:prstGeom>
          <a:noFill/>
          <a:ln/>
        </p:spPr>
        <p:txBody>
          <a:bodyPr wrap="square" lIns="0" tIns="0" rIns="0" bIns="0" rtlCol="0" anchor="ctr"/>
          <a:lstStyle/>
          <a:p>
            <a:pPr marL="0" indent="0" algn="ctr">
              <a:buNone/>
            </a:pPr>
            <a:r>
              <a:rPr lang="en-US" sz="2400" b="1" dirty="0">
                <a:solidFill>
                  <a:srgbClr val="F7FAFC"/>
                </a:solidFill>
              </a:rPr>
              <a:t>2</a:t>
            </a:r>
            <a:endParaRPr lang="en-US" sz="2400" dirty="0"/>
          </a:p>
        </p:txBody>
      </p:sp>
      <p:sp>
        <p:nvSpPr>
          <p:cNvPr id="10" name="Text 8"/>
          <p:cNvSpPr/>
          <p:nvPr/>
        </p:nvSpPr>
        <p:spPr>
          <a:xfrm>
            <a:off x="2788920" y="3547872"/>
            <a:ext cx="1783080" cy="502920"/>
          </a:xfrm>
          <a:prstGeom prst="rect">
            <a:avLst/>
          </a:prstGeom>
          <a:noFill/>
          <a:ln/>
        </p:spPr>
        <p:txBody>
          <a:bodyPr wrap="square" lIns="0" tIns="0" rIns="0" bIns="0" rtlCol="0" anchor="ctr"/>
          <a:lstStyle/>
          <a:p>
            <a:pPr marL="0" indent="0" algn="ctr">
              <a:buNone/>
            </a:pPr>
            <a:r>
              <a:rPr lang="en-US" sz="1400" b="1" dirty="0">
                <a:solidFill>
                  <a:srgbClr val="F7FAFC"/>
                </a:solidFill>
              </a:rPr>
              <a:t>Training example</a:t>
            </a:r>
            <a:endParaRPr lang="en-US" sz="1400" dirty="0"/>
          </a:p>
        </p:txBody>
      </p:sp>
      <p:sp>
        <p:nvSpPr>
          <p:cNvPr id="11" name="Text 9"/>
          <p:cNvSpPr/>
          <p:nvPr/>
        </p:nvSpPr>
        <p:spPr>
          <a:xfrm>
            <a:off x="4507992" y="2331720"/>
            <a:ext cx="502920" cy="502920"/>
          </a:xfrm>
          <a:prstGeom prst="rect">
            <a:avLst/>
          </a:prstGeom>
          <a:noFill/>
          <a:ln/>
        </p:spPr>
        <p:txBody>
          <a:bodyPr wrap="square" lIns="0" tIns="0" rIns="0" bIns="0" rtlCol="0" anchor="ctr"/>
          <a:lstStyle/>
          <a:p>
            <a:pPr marL="0" indent="0" algn="ctr">
              <a:buNone/>
            </a:pPr>
            <a:r>
              <a:rPr lang="en-US" sz="2800" dirty="0">
                <a:solidFill>
                  <a:srgbClr val="20D5FF"/>
                </a:solidFill>
              </a:rPr>
              <a:t>→</a:t>
            </a:r>
            <a:endParaRPr lang="en-US" sz="2800" dirty="0"/>
          </a:p>
        </p:txBody>
      </p:sp>
      <p:sp>
        <p:nvSpPr>
          <p:cNvPr id="12" name="Shape 10"/>
          <p:cNvSpPr/>
          <p:nvPr/>
        </p:nvSpPr>
        <p:spPr>
          <a:xfrm>
            <a:off x="5257800" y="1920240"/>
            <a:ext cx="1417320" cy="1417320"/>
          </a:xfrm>
          <a:prstGeom prst="ellipse">
            <a:avLst/>
          </a:prstGeom>
          <a:solidFill>
            <a:srgbClr val="3B82F6">
              <a:alpha val="90000"/>
            </a:srgbClr>
          </a:solidFill>
          <a:ln w="12700">
            <a:solidFill>
              <a:srgbClr val="F7FAFC">
                <a:alpha val="35000"/>
              </a:srgbClr>
            </a:solidFill>
            <a:prstDash val="solid"/>
          </a:ln>
        </p:spPr>
      </p:sp>
      <p:sp>
        <p:nvSpPr>
          <p:cNvPr id="13" name="Text 11"/>
          <p:cNvSpPr/>
          <p:nvPr/>
        </p:nvSpPr>
        <p:spPr>
          <a:xfrm>
            <a:off x="5696712" y="2249424"/>
            <a:ext cx="548640" cy="411480"/>
          </a:xfrm>
          <a:prstGeom prst="rect">
            <a:avLst/>
          </a:prstGeom>
          <a:noFill/>
          <a:ln/>
        </p:spPr>
        <p:txBody>
          <a:bodyPr wrap="square" lIns="0" tIns="0" rIns="0" bIns="0" rtlCol="0" anchor="ctr"/>
          <a:lstStyle/>
          <a:p>
            <a:pPr marL="0" indent="0" algn="ctr">
              <a:buNone/>
            </a:pPr>
            <a:r>
              <a:rPr lang="en-US" sz="2400" b="1" dirty="0">
                <a:solidFill>
                  <a:srgbClr val="F7FAFC"/>
                </a:solidFill>
              </a:rPr>
              <a:t>3</a:t>
            </a:r>
            <a:endParaRPr lang="en-US" sz="2400" dirty="0"/>
          </a:p>
        </p:txBody>
      </p:sp>
      <p:sp>
        <p:nvSpPr>
          <p:cNvPr id="14" name="Text 12"/>
          <p:cNvSpPr/>
          <p:nvPr/>
        </p:nvSpPr>
        <p:spPr>
          <a:xfrm>
            <a:off x="5074920" y="3547872"/>
            <a:ext cx="1783080" cy="502920"/>
          </a:xfrm>
          <a:prstGeom prst="rect">
            <a:avLst/>
          </a:prstGeom>
          <a:noFill/>
          <a:ln/>
        </p:spPr>
        <p:txBody>
          <a:bodyPr wrap="square" lIns="0" tIns="0" rIns="0" bIns="0" rtlCol="0" anchor="ctr"/>
          <a:lstStyle/>
          <a:p>
            <a:pPr marL="0" indent="0" algn="ctr">
              <a:buNone/>
            </a:pPr>
            <a:r>
              <a:rPr lang="en-US" sz="1400" b="1" dirty="0">
                <a:solidFill>
                  <a:srgbClr val="F7FAFC"/>
                </a:solidFill>
              </a:rPr>
              <a:t>Model output</a:t>
            </a:r>
            <a:endParaRPr lang="en-US" sz="1400" dirty="0"/>
          </a:p>
        </p:txBody>
      </p:sp>
      <p:sp>
        <p:nvSpPr>
          <p:cNvPr id="15" name="Text 13"/>
          <p:cNvSpPr/>
          <p:nvPr/>
        </p:nvSpPr>
        <p:spPr>
          <a:xfrm>
            <a:off x="6793992" y="2331720"/>
            <a:ext cx="502920" cy="502920"/>
          </a:xfrm>
          <a:prstGeom prst="rect">
            <a:avLst/>
          </a:prstGeom>
          <a:noFill/>
          <a:ln/>
        </p:spPr>
        <p:txBody>
          <a:bodyPr wrap="square" lIns="0" tIns="0" rIns="0" bIns="0" rtlCol="0" anchor="ctr"/>
          <a:lstStyle/>
          <a:p>
            <a:pPr marL="0" indent="0" algn="ctr">
              <a:buNone/>
            </a:pPr>
            <a:r>
              <a:rPr lang="en-US" sz="2800" dirty="0">
                <a:solidFill>
                  <a:srgbClr val="20D5FF"/>
                </a:solidFill>
              </a:rPr>
              <a:t>→</a:t>
            </a:r>
            <a:endParaRPr lang="en-US" sz="2800" dirty="0"/>
          </a:p>
        </p:txBody>
      </p:sp>
      <p:sp>
        <p:nvSpPr>
          <p:cNvPr id="16" name="Shape 14"/>
          <p:cNvSpPr/>
          <p:nvPr/>
        </p:nvSpPr>
        <p:spPr>
          <a:xfrm>
            <a:off x="7543800" y="1920240"/>
            <a:ext cx="1417320" cy="1417320"/>
          </a:xfrm>
          <a:prstGeom prst="ellipse">
            <a:avLst/>
          </a:prstGeom>
          <a:solidFill>
            <a:srgbClr val="A855F7">
              <a:alpha val="90000"/>
            </a:srgbClr>
          </a:solidFill>
          <a:ln w="12700">
            <a:solidFill>
              <a:srgbClr val="F7FAFC">
                <a:alpha val="35000"/>
              </a:srgbClr>
            </a:solidFill>
            <a:prstDash val="solid"/>
          </a:ln>
        </p:spPr>
      </p:sp>
      <p:sp>
        <p:nvSpPr>
          <p:cNvPr id="17" name="Text 15"/>
          <p:cNvSpPr/>
          <p:nvPr/>
        </p:nvSpPr>
        <p:spPr>
          <a:xfrm>
            <a:off x="7982712" y="2249424"/>
            <a:ext cx="548640" cy="411480"/>
          </a:xfrm>
          <a:prstGeom prst="rect">
            <a:avLst/>
          </a:prstGeom>
          <a:noFill/>
          <a:ln/>
        </p:spPr>
        <p:txBody>
          <a:bodyPr wrap="square" lIns="0" tIns="0" rIns="0" bIns="0" rtlCol="0" anchor="ctr"/>
          <a:lstStyle/>
          <a:p>
            <a:pPr marL="0" indent="0" algn="ctr">
              <a:buNone/>
            </a:pPr>
            <a:r>
              <a:rPr lang="en-US" sz="2400" b="1" dirty="0">
                <a:solidFill>
                  <a:srgbClr val="F7FAFC"/>
                </a:solidFill>
              </a:rPr>
              <a:t>4</a:t>
            </a:r>
            <a:endParaRPr lang="en-US" sz="2400" dirty="0"/>
          </a:p>
        </p:txBody>
      </p:sp>
      <p:sp>
        <p:nvSpPr>
          <p:cNvPr id="18" name="Text 16"/>
          <p:cNvSpPr/>
          <p:nvPr/>
        </p:nvSpPr>
        <p:spPr>
          <a:xfrm>
            <a:off x="7360920" y="3547872"/>
            <a:ext cx="1783080" cy="502920"/>
          </a:xfrm>
          <a:prstGeom prst="rect">
            <a:avLst/>
          </a:prstGeom>
          <a:noFill/>
          <a:ln/>
        </p:spPr>
        <p:txBody>
          <a:bodyPr wrap="square" lIns="0" tIns="0" rIns="0" bIns="0" rtlCol="0" anchor="ctr"/>
          <a:lstStyle/>
          <a:p>
            <a:pPr marL="0" indent="0" algn="ctr">
              <a:buNone/>
            </a:pPr>
            <a:r>
              <a:rPr lang="en-US" sz="1400" b="1" dirty="0">
                <a:solidFill>
                  <a:srgbClr val="F7FAFC"/>
                </a:solidFill>
              </a:rPr>
              <a:t>Calculate loss</a:t>
            </a:r>
            <a:endParaRPr lang="en-US" sz="1400" dirty="0"/>
          </a:p>
        </p:txBody>
      </p:sp>
      <p:sp>
        <p:nvSpPr>
          <p:cNvPr id="19" name="Text 17"/>
          <p:cNvSpPr/>
          <p:nvPr/>
        </p:nvSpPr>
        <p:spPr>
          <a:xfrm>
            <a:off x="9079992" y="2331720"/>
            <a:ext cx="502920" cy="502920"/>
          </a:xfrm>
          <a:prstGeom prst="rect">
            <a:avLst/>
          </a:prstGeom>
          <a:noFill/>
          <a:ln/>
        </p:spPr>
        <p:txBody>
          <a:bodyPr wrap="square" lIns="0" tIns="0" rIns="0" bIns="0" rtlCol="0" anchor="ctr"/>
          <a:lstStyle/>
          <a:p>
            <a:pPr marL="0" indent="0" algn="ctr">
              <a:buNone/>
            </a:pPr>
            <a:r>
              <a:rPr lang="en-US" sz="2800" dirty="0">
                <a:solidFill>
                  <a:srgbClr val="20D5FF"/>
                </a:solidFill>
              </a:rPr>
              <a:t>→</a:t>
            </a:r>
            <a:endParaRPr lang="en-US" sz="2800" dirty="0"/>
          </a:p>
        </p:txBody>
      </p:sp>
      <p:sp>
        <p:nvSpPr>
          <p:cNvPr id="20" name="Shape 18"/>
          <p:cNvSpPr/>
          <p:nvPr/>
        </p:nvSpPr>
        <p:spPr>
          <a:xfrm>
            <a:off x="9829800" y="1920240"/>
            <a:ext cx="1417320" cy="1417320"/>
          </a:xfrm>
          <a:prstGeom prst="ellipse">
            <a:avLst/>
          </a:prstGeom>
          <a:solidFill>
            <a:srgbClr val="52D3A3">
              <a:alpha val="90000"/>
            </a:srgbClr>
          </a:solidFill>
          <a:ln w="12700">
            <a:solidFill>
              <a:srgbClr val="F7FAFC">
                <a:alpha val="35000"/>
              </a:srgbClr>
            </a:solidFill>
            <a:prstDash val="solid"/>
          </a:ln>
        </p:spPr>
      </p:sp>
      <p:sp>
        <p:nvSpPr>
          <p:cNvPr id="21" name="Text 19"/>
          <p:cNvSpPr/>
          <p:nvPr/>
        </p:nvSpPr>
        <p:spPr>
          <a:xfrm>
            <a:off x="10268712" y="2249424"/>
            <a:ext cx="548640" cy="411480"/>
          </a:xfrm>
          <a:prstGeom prst="rect">
            <a:avLst/>
          </a:prstGeom>
          <a:noFill/>
          <a:ln/>
        </p:spPr>
        <p:txBody>
          <a:bodyPr wrap="square" lIns="0" tIns="0" rIns="0" bIns="0" rtlCol="0" anchor="ctr"/>
          <a:lstStyle/>
          <a:p>
            <a:pPr marL="0" indent="0" algn="ctr">
              <a:buNone/>
            </a:pPr>
            <a:r>
              <a:rPr lang="en-US" sz="2400" b="1" dirty="0">
                <a:solidFill>
                  <a:srgbClr val="F7FAFC"/>
                </a:solidFill>
              </a:rPr>
              <a:t>5</a:t>
            </a:r>
            <a:endParaRPr lang="en-US" sz="2400" dirty="0"/>
          </a:p>
        </p:txBody>
      </p:sp>
      <p:sp>
        <p:nvSpPr>
          <p:cNvPr id="22" name="Text 20"/>
          <p:cNvSpPr/>
          <p:nvPr/>
        </p:nvSpPr>
        <p:spPr>
          <a:xfrm>
            <a:off x="9646920" y="3547872"/>
            <a:ext cx="1783080" cy="502920"/>
          </a:xfrm>
          <a:prstGeom prst="rect">
            <a:avLst/>
          </a:prstGeom>
          <a:noFill/>
          <a:ln/>
        </p:spPr>
        <p:txBody>
          <a:bodyPr wrap="square" lIns="0" tIns="0" rIns="0" bIns="0" rtlCol="0" anchor="ctr"/>
          <a:lstStyle/>
          <a:p>
            <a:pPr marL="0" indent="0" algn="ctr">
              <a:buNone/>
            </a:pPr>
            <a:r>
              <a:rPr lang="en-US" sz="1400" b="1" dirty="0">
                <a:solidFill>
                  <a:srgbClr val="F7FAFC"/>
                </a:solidFill>
              </a:rPr>
              <a:t>Update weights</a:t>
            </a:r>
            <a:endParaRPr lang="en-US" sz="1400" dirty="0"/>
          </a:p>
        </p:txBody>
      </p:sp>
      <p:sp>
        <p:nvSpPr>
          <p:cNvPr id="23" name="Text 21"/>
          <p:cNvSpPr/>
          <p:nvPr/>
        </p:nvSpPr>
        <p:spPr>
          <a:xfrm>
            <a:off x="2971800" y="4754880"/>
            <a:ext cx="6217920" cy="438912"/>
          </a:xfrm>
          <a:prstGeom prst="rect">
            <a:avLst/>
          </a:prstGeom>
          <a:noFill/>
          <a:ln/>
        </p:spPr>
        <p:txBody>
          <a:bodyPr wrap="square" lIns="0" tIns="0" rIns="0" bIns="0" rtlCol="0" anchor="ctr"/>
          <a:lstStyle/>
          <a:p>
            <a:pPr marL="0" indent="0" algn="ctr">
              <a:buNone/>
            </a:pPr>
            <a:r>
              <a:rPr lang="en-US" sz="1900" b="1" dirty="0">
                <a:solidFill>
                  <a:srgbClr val="20D5FF"/>
                </a:solidFill>
              </a:rPr>
              <a:t>Repeat across many examples and training steps</a:t>
            </a:r>
            <a:endParaRPr lang="en-US" sz="1900" dirty="0"/>
          </a:p>
        </p:txBody>
      </p:sp>
      <p:sp>
        <p:nvSpPr>
          <p:cNvPr id="25" name="Slide Number Placeholder 0"/>
          <p:cNvSpPr>
            <a:spLocks noGrp="1"/>
          </p:cNvSpPr>
          <p:nvPr>
            <p:ph type="sldNum" sz="quarter" idx="4294967295"/>
          </p:nvPr>
        </p:nvSpPr>
        <p:spPr>
          <a:xfrm>
            <a:off x="11631613" y="6510338"/>
            <a:ext cx="800100" cy="300037"/>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48640" y="566928"/>
            <a:ext cx="11064240" cy="502920"/>
          </a:xfrm>
          <a:prstGeom prst="rect">
            <a:avLst/>
          </a:prstGeom>
          <a:noFill/>
          <a:ln/>
        </p:spPr>
        <p:txBody>
          <a:bodyPr wrap="square" lIns="0" tIns="0" rIns="0" bIns="0" rtlCol="0" anchor="ctr"/>
          <a:lstStyle/>
          <a:p>
            <a:pPr marL="0" indent="0">
              <a:buNone/>
            </a:pPr>
            <a:r>
              <a:rPr lang="en-US" sz="2700" b="1" dirty="0">
                <a:solidFill>
                  <a:srgbClr val="F7FAFC"/>
                </a:solidFill>
              </a:rPr>
              <a:t>Common adaptation methods</a:t>
            </a:r>
            <a:endParaRPr lang="en-US" sz="2700" dirty="0"/>
          </a:p>
        </p:txBody>
      </p:sp>
      <p:sp>
        <p:nvSpPr>
          <p:cNvPr id="3" name="Text 1"/>
          <p:cNvSpPr/>
          <p:nvPr/>
        </p:nvSpPr>
        <p:spPr>
          <a:xfrm>
            <a:off x="566928" y="1078992"/>
            <a:ext cx="10789920" cy="310896"/>
          </a:xfrm>
          <a:prstGeom prst="rect">
            <a:avLst/>
          </a:prstGeom>
          <a:noFill/>
          <a:ln/>
        </p:spPr>
        <p:txBody>
          <a:bodyPr wrap="square" lIns="0" tIns="0" rIns="0" bIns="0" rtlCol="0" anchor="ctr"/>
          <a:lstStyle/>
          <a:p>
            <a:pPr marL="0" indent="0">
              <a:buNone/>
            </a:pPr>
            <a:r>
              <a:rPr lang="en-US" sz="1250" dirty="0">
                <a:solidFill>
                  <a:srgbClr val="A9BDD4"/>
                </a:solidFill>
              </a:rPr>
              <a:t>These methods solve different parts of the alignment and efficiency problem.</a:t>
            </a:r>
            <a:endParaRPr lang="en-US" sz="1250" dirty="0"/>
          </a:p>
        </p:txBody>
      </p:sp>
      <p:pic>
        <p:nvPicPr>
          <p:cNvPr id="4" name="Image 0" descr="/mnt/data/28595bdd3f.png"/>
          <p:cNvPicPr>
            <a:picLocks noChangeAspect="1"/>
          </p:cNvPicPr>
          <p:nvPr/>
        </p:nvPicPr>
        <p:blipFill>
          <a:blip r:embed="rId3"/>
          <a:stretch>
            <a:fillRect/>
          </a:stretch>
        </p:blipFill>
        <p:spPr>
          <a:xfrm>
            <a:off x="0" y="109728"/>
            <a:ext cx="12191695" cy="6748272"/>
          </a:xfrm>
          <a:prstGeom prst="rect">
            <a:avLst/>
          </a:prstGeom>
        </p:spPr>
      </p:pic>
      <p:sp>
        <p:nvSpPr>
          <p:cNvPr id="5" name="Shape 2"/>
          <p:cNvSpPr/>
          <p:nvPr/>
        </p:nvSpPr>
        <p:spPr>
          <a:xfrm>
            <a:off x="0" y="109728"/>
            <a:ext cx="12191695" cy="6748272"/>
          </a:xfrm>
          <a:prstGeom prst="rect">
            <a:avLst/>
          </a:prstGeom>
          <a:solidFill>
            <a:srgbClr val="071426">
              <a:alpha val="78000"/>
            </a:srgbClr>
          </a:solidFill>
          <a:ln w="12700">
            <a:solidFill>
              <a:srgbClr val="071426">
                <a:alpha val="0"/>
              </a:srgbClr>
            </a:solidFill>
            <a:prstDash val="solid"/>
          </a:ln>
        </p:spPr>
      </p:sp>
      <p:sp>
        <p:nvSpPr>
          <p:cNvPr id="6" name="Shape 3"/>
          <p:cNvSpPr/>
          <p:nvPr/>
        </p:nvSpPr>
        <p:spPr>
          <a:xfrm>
            <a:off x="502920" y="1417320"/>
            <a:ext cx="11155680" cy="4617720"/>
          </a:xfrm>
          <a:prstGeom prst="roundRect">
            <a:avLst/>
          </a:prstGeom>
          <a:solidFill>
            <a:srgbClr val="071426">
              <a:alpha val="82000"/>
            </a:srgbClr>
          </a:solidFill>
          <a:ln w="12700">
            <a:solidFill>
              <a:srgbClr val="20D5FF">
                <a:alpha val="45000"/>
              </a:srgbClr>
            </a:solidFill>
            <a:prstDash val="solid"/>
          </a:ln>
        </p:spPr>
      </p:sp>
      <p:sp>
        <p:nvSpPr>
          <p:cNvPr id="7" name="Shape 4"/>
          <p:cNvSpPr/>
          <p:nvPr/>
        </p:nvSpPr>
        <p:spPr>
          <a:xfrm>
            <a:off x="731520" y="1664208"/>
            <a:ext cx="5257800" cy="1664208"/>
          </a:xfrm>
          <a:prstGeom prst="roundRect">
            <a:avLst>
              <a:gd name="adj" fmla="val 4396"/>
            </a:avLst>
          </a:prstGeom>
          <a:solidFill>
            <a:srgbClr val="0E223C">
              <a:alpha val="97000"/>
            </a:srgbClr>
          </a:solidFill>
          <a:ln w="12700">
            <a:solidFill>
              <a:srgbClr val="21476B"/>
            </a:solidFill>
            <a:prstDash val="solid"/>
          </a:ln>
        </p:spPr>
      </p:sp>
      <p:sp>
        <p:nvSpPr>
          <p:cNvPr id="8" name="Shape 5"/>
          <p:cNvSpPr/>
          <p:nvPr/>
        </p:nvSpPr>
        <p:spPr>
          <a:xfrm>
            <a:off x="749808" y="1709928"/>
            <a:ext cx="64008" cy="1572768"/>
          </a:xfrm>
          <a:prstGeom prst="rect">
            <a:avLst/>
          </a:prstGeom>
          <a:solidFill>
            <a:srgbClr val="3B82F6"/>
          </a:solidFill>
          <a:ln w="12700">
            <a:solidFill>
              <a:srgbClr val="3B82F6"/>
            </a:solidFill>
            <a:prstDash val="solid"/>
          </a:ln>
        </p:spPr>
      </p:sp>
      <p:sp>
        <p:nvSpPr>
          <p:cNvPr id="9" name="Text 6"/>
          <p:cNvSpPr/>
          <p:nvPr/>
        </p:nvSpPr>
        <p:spPr>
          <a:xfrm>
            <a:off x="960120" y="1828800"/>
            <a:ext cx="4892040" cy="274320"/>
          </a:xfrm>
          <a:prstGeom prst="rect">
            <a:avLst/>
          </a:prstGeom>
          <a:noFill/>
          <a:ln/>
        </p:spPr>
        <p:txBody>
          <a:bodyPr wrap="square" lIns="0" tIns="0" rIns="0" bIns="0" rtlCol="0" anchor="ctr"/>
          <a:lstStyle/>
          <a:p>
            <a:pPr marL="0" indent="0">
              <a:buNone/>
            </a:pPr>
            <a:r>
              <a:rPr lang="en-US" sz="1500" b="1" dirty="0">
                <a:solidFill>
                  <a:srgbClr val="F7FAFC"/>
                </a:solidFill>
              </a:rPr>
              <a:t>Supervised fine-tuning</a:t>
            </a:r>
            <a:endParaRPr lang="en-US" sz="1500" dirty="0"/>
          </a:p>
        </p:txBody>
      </p:sp>
      <p:sp>
        <p:nvSpPr>
          <p:cNvPr id="10" name="Text 7"/>
          <p:cNvSpPr/>
          <p:nvPr/>
        </p:nvSpPr>
        <p:spPr>
          <a:xfrm>
            <a:off x="960120" y="2194560"/>
            <a:ext cx="4846320" cy="1005840"/>
          </a:xfrm>
          <a:prstGeom prst="rect">
            <a:avLst/>
          </a:prstGeom>
          <a:noFill/>
          <a:ln/>
        </p:spPr>
        <p:txBody>
          <a:bodyPr wrap="square" lIns="0" tIns="0" rIns="0" bIns="0" rtlCol="0" anchor="ctr">
            <a:normAutofit/>
          </a:bodyPr>
          <a:lstStyle/>
          <a:p>
            <a:pPr marL="0" indent="0">
              <a:buNone/>
            </a:pPr>
            <a:r>
              <a:rPr lang="en-US" sz="1150" dirty="0">
                <a:solidFill>
                  <a:srgbClr val="A9BDD4"/>
                </a:solidFill>
              </a:rPr>
              <a:t>Learn from labeled input-output examples</a:t>
            </a:r>
            <a:endParaRPr lang="en-US" sz="1150" dirty="0"/>
          </a:p>
          <a:p>
            <a:pPr marL="0" indent="0">
              <a:buNone/>
            </a:pPr>
            <a:r>
              <a:rPr lang="en-US" sz="1150" dirty="0">
                <a:solidFill>
                  <a:srgbClr val="A9BDD4"/>
                </a:solidFill>
              </a:rPr>
              <a:t>Full or partial weights</a:t>
            </a:r>
            <a:endParaRPr lang="en-US" sz="1150" dirty="0"/>
          </a:p>
        </p:txBody>
      </p:sp>
      <p:sp>
        <p:nvSpPr>
          <p:cNvPr id="11" name="Shape 8"/>
          <p:cNvSpPr/>
          <p:nvPr/>
        </p:nvSpPr>
        <p:spPr>
          <a:xfrm>
            <a:off x="6263640" y="1664208"/>
            <a:ext cx="5257800" cy="1664208"/>
          </a:xfrm>
          <a:prstGeom prst="roundRect">
            <a:avLst>
              <a:gd name="adj" fmla="val 4396"/>
            </a:avLst>
          </a:prstGeom>
          <a:solidFill>
            <a:srgbClr val="0E223C">
              <a:alpha val="97000"/>
            </a:srgbClr>
          </a:solidFill>
          <a:ln w="12700">
            <a:solidFill>
              <a:srgbClr val="21476B"/>
            </a:solidFill>
            <a:prstDash val="solid"/>
          </a:ln>
        </p:spPr>
      </p:sp>
      <p:sp>
        <p:nvSpPr>
          <p:cNvPr id="12" name="Shape 9"/>
          <p:cNvSpPr/>
          <p:nvPr/>
        </p:nvSpPr>
        <p:spPr>
          <a:xfrm>
            <a:off x="6281928" y="1709928"/>
            <a:ext cx="64008" cy="1572768"/>
          </a:xfrm>
          <a:prstGeom prst="rect">
            <a:avLst/>
          </a:prstGeom>
          <a:solidFill>
            <a:srgbClr val="20D5FF"/>
          </a:solidFill>
          <a:ln w="12700">
            <a:solidFill>
              <a:srgbClr val="20D5FF"/>
            </a:solidFill>
            <a:prstDash val="solid"/>
          </a:ln>
        </p:spPr>
      </p:sp>
      <p:sp>
        <p:nvSpPr>
          <p:cNvPr id="13" name="Text 10"/>
          <p:cNvSpPr/>
          <p:nvPr/>
        </p:nvSpPr>
        <p:spPr>
          <a:xfrm>
            <a:off x="6492240" y="1828800"/>
            <a:ext cx="4892040" cy="274320"/>
          </a:xfrm>
          <a:prstGeom prst="rect">
            <a:avLst/>
          </a:prstGeom>
          <a:noFill/>
          <a:ln/>
        </p:spPr>
        <p:txBody>
          <a:bodyPr wrap="square" lIns="0" tIns="0" rIns="0" bIns="0" rtlCol="0" anchor="ctr"/>
          <a:lstStyle/>
          <a:p>
            <a:pPr marL="0" indent="0">
              <a:buNone/>
            </a:pPr>
            <a:r>
              <a:rPr lang="en-US" sz="1500" b="1" dirty="0">
                <a:solidFill>
                  <a:srgbClr val="F7FAFC"/>
                </a:solidFill>
              </a:rPr>
              <a:t>Instruction fine-tuning</a:t>
            </a:r>
            <a:endParaRPr lang="en-US" sz="1500" dirty="0"/>
          </a:p>
        </p:txBody>
      </p:sp>
      <p:sp>
        <p:nvSpPr>
          <p:cNvPr id="14" name="Text 11"/>
          <p:cNvSpPr/>
          <p:nvPr/>
        </p:nvSpPr>
        <p:spPr>
          <a:xfrm>
            <a:off x="6492240" y="2194560"/>
            <a:ext cx="4846320" cy="1005840"/>
          </a:xfrm>
          <a:prstGeom prst="rect">
            <a:avLst/>
          </a:prstGeom>
          <a:noFill/>
          <a:ln/>
        </p:spPr>
        <p:txBody>
          <a:bodyPr wrap="square" lIns="0" tIns="0" rIns="0" bIns="0" rtlCol="0" anchor="ctr">
            <a:normAutofit/>
          </a:bodyPr>
          <a:lstStyle/>
          <a:p>
            <a:pPr marL="0" indent="0">
              <a:buNone/>
            </a:pPr>
            <a:r>
              <a:rPr lang="en-US" sz="1150" dirty="0">
                <a:solidFill>
                  <a:srgbClr val="A9BDD4"/>
                </a:solidFill>
              </a:rPr>
              <a:t>Learn to follow natural-language requests</a:t>
            </a:r>
            <a:endParaRPr lang="en-US" sz="1150" dirty="0"/>
          </a:p>
          <a:p>
            <a:pPr marL="0" indent="0">
              <a:buNone/>
            </a:pPr>
            <a:r>
              <a:rPr lang="en-US" sz="1150" dirty="0">
                <a:solidFill>
                  <a:srgbClr val="A9BDD4"/>
                </a:solidFill>
              </a:rPr>
              <a:t>Usually supervised training</a:t>
            </a:r>
            <a:endParaRPr lang="en-US" sz="1150" dirty="0"/>
          </a:p>
        </p:txBody>
      </p:sp>
      <p:sp>
        <p:nvSpPr>
          <p:cNvPr id="15" name="Shape 12"/>
          <p:cNvSpPr/>
          <p:nvPr/>
        </p:nvSpPr>
        <p:spPr>
          <a:xfrm>
            <a:off x="731520" y="3721608"/>
            <a:ext cx="5257800" cy="1664208"/>
          </a:xfrm>
          <a:prstGeom prst="roundRect">
            <a:avLst>
              <a:gd name="adj" fmla="val 4396"/>
            </a:avLst>
          </a:prstGeom>
          <a:solidFill>
            <a:srgbClr val="0E223C">
              <a:alpha val="97000"/>
            </a:srgbClr>
          </a:solidFill>
          <a:ln w="12700">
            <a:solidFill>
              <a:srgbClr val="21476B"/>
            </a:solidFill>
            <a:prstDash val="solid"/>
          </a:ln>
        </p:spPr>
      </p:sp>
      <p:sp>
        <p:nvSpPr>
          <p:cNvPr id="16" name="Shape 13"/>
          <p:cNvSpPr/>
          <p:nvPr/>
        </p:nvSpPr>
        <p:spPr>
          <a:xfrm>
            <a:off x="749808" y="3767328"/>
            <a:ext cx="64008" cy="1572768"/>
          </a:xfrm>
          <a:prstGeom prst="rect">
            <a:avLst/>
          </a:prstGeom>
          <a:solidFill>
            <a:srgbClr val="A855F7"/>
          </a:solidFill>
          <a:ln w="12700">
            <a:solidFill>
              <a:srgbClr val="A855F7"/>
            </a:solidFill>
            <a:prstDash val="solid"/>
          </a:ln>
        </p:spPr>
      </p:sp>
      <p:sp>
        <p:nvSpPr>
          <p:cNvPr id="17" name="Text 14"/>
          <p:cNvSpPr/>
          <p:nvPr/>
        </p:nvSpPr>
        <p:spPr>
          <a:xfrm>
            <a:off x="960120" y="3886200"/>
            <a:ext cx="4892040" cy="274320"/>
          </a:xfrm>
          <a:prstGeom prst="rect">
            <a:avLst/>
          </a:prstGeom>
          <a:noFill/>
          <a:ln/>
        </p:spPr>
        <p:txBody>
          <a:bodyPr wrap="square" lIns="0" tIns="0" rIns="0" bIns="0" rtlCol="0" anchor="ctr"/>
          <a:lstStyle/>
          <a:p>
            <a:pPr marL="0" indent="0">
              <a:buNone/>
            </a:pPr>
            <a:r>
              <a:rPr lang="en-US" sz="1500" b="1" dirty="0">
                <a:solidFill>
                  <a:srgbClr val="F7FAFC"/>
                </a:solidFill>
              </a:rPr>
              <a:t>PEFT</a:t>
            </a:r>
            <a:endParaRPr lang="en-US" sz="1500" dirty="0"/>
          </a:p>
        </p:txBody>
      </p:sp>
      <p:sp>
        <p:nvSpPr>
          <p:cNvPr id="18" name="Text 15"/>
          <p:cNvSpPr/>
          <p:nvPr/>
        </p:nvSpPr>
        <p:spPr>
          <a:xfrm>
            <a:off x="960120" y="4251960"/>
            <a:ext cx="4846320" cy="1005840"/>
          </a:xfrm>
          <a:prstGeom prst="rect">
            <a:avLst/>
          </a:prstGeom>
          <a:noFill/>
          <a:ln/>
        </p:spPr>
        <p:txBody>
          <a:bodyPr wrap="square" lIns="0" tIns="0" rIns="0" bIns="0" rtlCol="0" anchor="ctr">
            <a:normAutofit/>
          </a:bodyPr>
          <a:lstStyle/>
          <a:p>
            <a:pPr marL="0" indent="0">
              <a:buNone/>
            </a:pPr>
            <a:r>
              <a:rPr lang="en-US" sz="1150" dirty="0">
                <a:solidFill>
                  <a:srgbClr val="A9BDD4"/>
                </a:solidFill>
              </a:rPr>
              <a:t>Train a small parameter subset</a:t>
            </a:r>
            <a:endParaRPr lang="en-US" sz="1150" dirty="0"/>
          </a:p>
          <a:p>
            <a:pPr marL="0" indent="0">
              <a:buNone/>
            </a:pPr>
            <a:r>
              <a:rPr lang="en-US" sz="1150" dirty="0">
                <a:solidFill>
                  <a:srgbClr val="A9BDD4"/>
                </a:solidFill>
              </a:rPr>
              <a:t>Adapters, LoRA, prompt tuning</a:t>
            </a:r>
            <a:endParaRPr lang="en-US" sz="1150" dirty="0"/>
          </a:p>
        </p:txBody>
      </p:sp>
      <p:sp>
        <p:nvSpPr>
          <p:cNvPr id="19" name="Shape 16"/>
          <p:cNvSpPr/>
          <p:nvPr/>
        </p:nvSpPr>
        <p:spPr>
          <a:xfrm>
            <a:off x="6263640" y="3721608"/>
            <a:ext cx="5257800" cy="1664208"/>
          </a:xfrm>
          <a:prstGeom prst="roundRect">
            <a:avLst>
              <a:gd name="adj" fmla="val 4396"/>
            </a:avLst>
          </a:prstGeom>
          <a:solidFill>
            <a:srgbClr val="0E223C">
              <a:alpha val="97000"/>
            </a:srgbClr>
          </a:solidFill>
          <a:ln w="12700">
            <a:solidFill>
              <a:srgbClr val="21476B"/>
            </a:solidFill>
            <a:prstDash val="solid"/>
          </a:ln>
        </p:spPr>
      </p:sp>
      <p:sp>
        <p:nvSpPr>
          <p:cNvPr id="20" name="Shape 17"/>
          <p:cNvSpPr/>
          <p:nvPr/>
        </p:nvSpPr>
        <p:spPr>
          <a:xfrm>
            <a:off x="6281928" y="3767328"/>
            <a:ext cx="64008" cy="1572768"/>
          </a:xfrm>
          <a:prstGeom prst="rect">
            <a:avLst/>
          </a:prstGeom>
          <a:solidFill>
            <a:srgbClr val="52D3A3"/>
          </a:solidFill>
          <a:ln w="12700">
            <a:solidFill>
              <a:srgbClr val="52D3A3"/>
            </a:solidFill>
            <a:prstDash val="solid"/>
          </a:ln>
        </p:spPr>
      </p:sp>
      <p:sp>
        <p:nvSpPr>
          <p:cNvPr id="21" name="Text 18"/>
          <p:cNvSpPr/>
          <p:nvPr/>
        </p:nvSpPr>
        <p:spPr>
          <a:xfrm>
            <a:off x="6492240" y="3886200"/>
            <a:ext cx="4892040" cy="274320"/>
          </a:xfrm>
          <a:prstGeom prst="rect">
            <a:avLst/>
          </a:prstGeom>
          <a:noFill/>
          <a:ln/>
        </p:spPr>
        <p:txBody>
          <a:bodyPr wrap="square" lIns="0" tIns="0" rIns="0" bIns="0" rtlCol="0" anchor="ctr"/>
          <a:lstStyle/>
          <a:p>
            <a:pPr marL="0" indent="0">
              <a:buNone/>
            </a:pPr>
            <a:r>
              <a:rPr lang="en-US" sz="1500" b="1" dirty="0">
                <a:solidFill>
                  <a:srgbClr val="F7FAFC"/>
                </a:solidFill>
              </a:rPr>
              <a:t>RLHF</a:t>
            </a:r>
            <a:endParaRPr lang="en-US" sz="1500" dirty="0"/>
          </a:p>
        </p:txBody>
      </p:sp>
      <p:sp>
        <p:nvSpPr>
          <p:cNvPr id="22" name="Text 19"/>
          <p:cNvSpPr/>
          <p:nvPr/>
        </p:nvSpPr>
        <p:spPr>
          <a:xfrm>
            <a:off x="6492240" y="4251960"/>
            <a:ext cx="4846320" cy="1005840"/>
          </a:xfrm>
          <a:prstGeom prst="rect">
            <a:avLst/>
          </a:prstGeom>
          <a:noFill/>
          <a:ln/>
        </p:spPr>
        <p:txBody>
          <a:bodyPr wrap="square" lIns="0" tIns="0" rIns="0" bIns="0" rtlCol="0" anchor="ctr">
            <a:normAutofit/>
          </a:bodyPr>
          <a:lstStyle/>
          <a:p>
            <a:pPr marL="0" indent="0">
              <a:buNone/>
            </a:pPr>
            <a:r>
              <a:rPr lang="en-US" sz="1150" dirty="0">
                <a:solidFill>
                  <a:srgbClr val="A9BDD4"/>
                </a:solidFill>
              </a:rPr>
              <a:t>Optimize preferences using human feedback</a:t>
            </a:r>
            <a:endParaRPr lang="en-US" sz="1150" dirty="0"/>
          </a:p>
          <a:p>
            <a:pPr marL="0" indent="0">
              <a:buNone/>
            </a:pPr>
            <a:r>
              <a:rPr lang="en-US" sz="1150" dirty="0">
                <a:solidFill>
                  <a:srgbClr val="A9BDD4"/>
                </a:solidFill>
              </a:rPr>
              <a:t>Reward model + policy optimization</a:t>
            </a:r>
            <a:endParaRPr lang="en-US" sz="1150" dirty="0"/>
          </a:p>
        </p:txBody>
      </p:sp>
      <p:sp>
        <p:nvSpPr>
          <p:cNvPr id="25" name="Slide Number Placeholder 0"/>
          <p:cNvSpPr>
            <a:spLocks noGrp="1"/>
          </p:cNvSpPr>
          <p:nvPr>
            <p:ph type="sldNum" sz="quarter" idx="4294967295"/>
          </p:nvPr>
        </p:nvSpPr>
        <p:spPr>
          <a:xfrm>
            <a:off x="11631613" y="6510338"/>
            <a:ext cx="800100" cy="300037"/>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48640" y="566928"/>
            <a:ext cx="11064240" cy="502920"/>
          </a:xfrm>
          <a:prstGeom prst="rect">
            <a:avLst/>
          </a:prstGeom>
          <a:noFill/>
          <a:ln/>
        </p:spPr>
        <p:txBody>
          <a:bodyPr wrap="square" lIns="0" tIns="0" rIns="0" bIns="0" rtlCol="0" anchor="ctr"/>
          <a:lstStyle/>
          <a:p>
            <a:pPr marL="0" indent="0">
              <a:buNone/>
            </a:pPr>
            <a:r>
              <a:rPr lang="en-US" sz="2700" b="1" dirty="0">
                <a:solidFill>
                  <a:srgbClr val="F7FAFC"/>
                </a:solidFill>
              </a:rPr>
              <a:t>Supervised &amp; instruction fine-tuning</a:t>
            </a:r>
            <a:endParaRPr lang="en-US" sz="2700" dirty="0"/>
          </a:p>
        </p:txBody>
      </p:sp>
      <p:sp>
        <p:nvSpPr>
          <p:cNvPr id="3" name="Text 1"/>
          <p:cNvSpPr/>
          <p:nvPr/>
        </p:nvSpPr>
        <p:spPr>
          <a:xfrm>
            <a:off x="566928" y="1078992"/>
            <a:ext cx="10789920" cy="310896"/>
          </a:xfrm>
          <a:prstGeom prst="rect">
            <a:avLst/>
          </a:prstGeom>
          <a:noFill/>
          <a:ln/>
        </p:spPr>
        <p:txBody>
          <a:bodyPr wrap="square" lIns="0" tIns="0" rIns="0" bIns="0" rtlCol="0" anchor="ctr"/>
          <a:lstStyle/>
          <a:p>
            <a:pPr marL="0" indent="0">
              <a:buNone/>
            </a:pPr>
            <a:r>
              <a:rPr lang="en-US" sz="1250" dirty="0">
                <a:solidFill>
                  <a:srgbClr val="A9BDD4"/>
                </a:solidFill>
              </a:rPr>
              <a:t>Both learn from demonstrations, but instruction data emphasizes following user requests.</a:t>
            </a:r>
            <a:endParaRPr lang="en-US" sz="1250" dirty="0"/>
          </a:p>
        </p:txBody>
      </p:sp>
      <p:sp>
        <p:nvSpPr>
          <p:cNvPr id="4" name="Shape 2"/>
          <p:cNvSpPr/>
          <p:nvPr/>
        </p:nvSpPr>
        <p:spPr>
          <a:xfrm>
            <a:off x="685800" y="1600200"/>
            <a:ext cx="5212080" cy="4160520"/>
          </a:xfrm>
          <a:prstGeom prst="roundRect">
            <a:avLst>
              <a:gd name="adj" fmla="val 1758"/>
            </a:avLst>
          </a:prstGeom>
          <a:solidFill>
            <a:srgbClr val="0E223C">
              <a:alpha val="97000"/>
            </a:srgbClr>
          </a:solidFill>
          <a:ln w="12700">
            <a:solidFill>
              <a:srgbClr val="21476B"/>
            </a:solidFill>
            <a:prstDash val="solid"/>
          </a:ln>
        </p:spPr>
      </p:sp>
      <p:sp>
        <p:nvSpPr>
          <p:cNvPr id="5" name="Shape 3"/>
          <p:cNvSpPr/>
          <p:nvPr/>
        </p:nvSpPr>
        <p:spPr>
          <a:xfrm>
            <a:off x="704088" y="1645920"/>
            <a:ext cx="64008" cy="4069080"/>
          </a:xfrm>
          <a:prstGeom prst="rect">
            <a:avLst/>
          </a:prstGeom>
          <a:solidFill>
            <a:srgbClr val="3B82F6"/>
          </a:solidFill>
          <a:ln w="12700">
            <a:solidFill>
              <a:srgbClr val="3B82F6"/>
            </a:solidFill>
            <a:prstDash val="solid"/>
          </a:ln>
        </p:spPr>
      </p:sp>
      <p:sp>
        <p:nvSpPr>
          <p:cNvPr id="6" name="Text 4"/>
          <p:cNvSpPr/>
          <p:nvPr/>
        </p:nvSpPr>
        <p:spPr>
          <a:xfrm>
            <a:off x="914400" y="1764792"/>
            <a:ext cx="4846320" cy="274320"/>
          </a:xfrm>
          <a:prstGeom prst="rect">
            <a:avLst/>
          </a:prstGeom>
          <a:noFill/>
          <a:ln/>
        </p:spPr>
        <p:txBody>
          <a:bodyPr wrap="square" lIns="0" tIns="0" rIns="0" bIns="0" rtlCol="0" anchor="ctr"/>
          <a:lstStyle/>
          <a:p>
            <a:pPr marL="0" indent="0">
              <a:buNone/>
            </a:pPr>
            <a:r>
              <a:rPr lang="en-US" sz="1500" b="1" dirty="0">
                <a:solidFill>
                  <a:srgbClr val="F7FAFC"/>
                </a:solidFill>
              </a:rPr>
              <a:t>Supervised fine-tuning</a:t>
            </a:r>
            <a:endParaRPr lang="en-US" sz="1500" dirty="0"/>
          </a:p>
        </p:txBody>
      </p:sp>
      <p:sp>
        <p:nvSpPr>
          <p:cNvPr id="7" name="Text 5"/>
          <p:cNvSpPr/>
          <p:nvPr/>
        </p:nvSpPr>
        <p:spPr>
          <a:xfrm>
            <a:off x="914400" y="2130552"/>
            <a:ext cx="4800600" cy="3502152"/>
          </a:xfrm>
          <a:prstGeom prst="rect">
            <a:avLst/>
          </a:prstGeom>
          <a:noFill/>
          <a:ln/>
        </p:spPr>
        <p:txBody>
          <a:bodyPr wrap="square" lIns="0" tIns="0" rIns="0" bIns="0" rtlCol="0" anchor="ctr">
            <a:normAutofit/>
          </a:bodyPr>
          <a:lstStyle/>
          <a:p>
            <a:pPr marL="0" indent="0">
              <a:buNone/>
            </a:pPr>
            <a:r>
              <a:rPr lang="en-US" sz="1150" dirty="0">
                <a:solidFill>
                  <a:srgbClr val="A9BDD4"/>
                </a:solidFill>
              </a:rPr>
              <a:t>Dataset: labeled input → target output</a:t>
            </a:r>
            <a:endParaRPr lang="en-US" sz="1150" dirty="0"/>
          </a:p>
          <a:p>
            <a:pPr marL="0" indent="0">
              <a:buNone/>
            </a:pPr>
            <a:endParaRPr lang="en-US" sz="1150" dirty="0"/>
          </a:p>
          <a:p>
            <a:pPr marL="0" indent="0">
              <a:buNone/>
            </a:pPr>
            <a:r>
              <a:rPr lang="en-US" sz="1150" dirty="0">
                <a:solidFill>
                  <a:srgbClr val="A9BDD4"/>
                </a:solidFill>
              </a:rPr>
              <a:t>Good for:</a:t>
            </a:r>
            <a:endParaRPr lang="en-US" sz="1150" dirty="0"/>
          </a:p>
          <a:p>
            <a:pPr marL="0" indent="0">
              <a:buNone/>
            </a:pPr>
            <a:r>
              <a:rPr lang="en-US" sz="1150" dirty="0">
                <a:solidFill>
                  <a:srgbClr val="A9BDD4"/>
                </a:solidFill>
              </a:rPr>
              <a:t>• Classification</a:t>
            </a:r>
            <a:endParaRPr lang="en-US" sz="1150" dirty="0"/>
          </a:p>
          <a:p>
            <a:pPr marL="0" indent="0">
              <a:buNone/>
            </a:pPr>
            <a:r>
              <a:rPr lang="en-US" sz="1150" dirty="0">
                <a:solidFill>
                  <a:srgbClr val="A9BDD4"/>
                </a:solidFill>
              </a:rPr>
              <a:t>• Extraction</a:t>
            </a:r>
            <a:endParaRPr lang="en-US" sz="1150" dirty="0"/>
          </a:p>
          <a:p>
            <a:pPr marL="0" indent="0">
              <a:buNone/>
            </a:pPr>
            <a:r>
              <a:rPr lang="en-US" sz="1150" dirty="0">
                <a:solidFill>
                  <a:srgbClr val="A9BDD4"/>
                </a:solidFill>
              </a:rPr>
              <a:t>• Structured generation</a:t>
            </a:r>
            <a:endParaRPr lang="en-US" sz="1150" dirty="0"/>
          </a:p>
          <a:p>
            <a:pPr marL="0" indent="0">
              <a:buNone/>
            </a:pPr>
            <a:r>
              <a:rPr lang="en-US" sz="1150" dirty="0">
                <a:solidFill>
                  <a:srgbClr val="A9BDD4"/>
                </a:solidFill>
              </a:rPr>
              <a:t>• Domain-specific transformations</a:t>
            </a:r>
            <a:endParaRPr lang="en-US" sz="1150" dirty="0"/>
          </a:p>
        </p:txBody>
      </p:sp>
      <p:sp>
        <p:nvSpPr>
          <p:cNvPr id="8" name="Shape 6"/>
          <p:cNvSpPr/>
          <p:nvPr/>
        </p:nvSpPr>
        <p:spPr>
          <a:xfrm>
            <a:off x="6263640" y="1600200"/>
            <a:ext cx="5212080" cy="4160520"/>
          </a:xfrm>
          <a:prstGeom prst="roundRect">
            <a:avLst>
              <a:gd name="adj" fmla="val 1758"/>
            </a:avLst>
          </a:prstGeom>
          <a:solidFill>
            <a:srgbClr val="0E223C">
              <a:alpha val="97000"/>
            </a:srgbClr>
          </a:solidFill>
          <a:ln w="12700">
            <a:solidFill>
              <a:srgbClr val="21476B"/>
            </a:solidFill>
            <a:prstDash val="solid"/>
          </a:ln>
        </p:spPr>
      </p:sp>
      <p:sp>
        <p:nvSpPr>
          <p:cNvPr id="9" name="Shape 7"/>
          <p:cNvSpPr/>
          <p:nvPr/>
        </p:nvSpPr>
        <p:spPr>
          <a:xfrm>
            <a:off x="6281928" y="1645920"/>
            <a:ext cx="64008" cy="4069080"/>
          </a:xfrm>
          <a:prstGeom prst="rect">
            <a:avLst/>
          </a:prstGeom>
          <a:solidFill>
            <a:srgbClr val="20D5FF"/>
          </a:solidFill>
          <a:ln w="12700">
            <a:solidFill>
              <a:srgbClr val="20D5FF"/>
            </a:solidFill>
            <a:prstDash val="solid"/>
          </a:ln>
        </p:spPr>
      </p:sp>
      <p:sp>
        <p:nvSpPr>
          <p:cNvPr id="10" name="Text 8"/>
          <p:cNvSpPr/>
          <p:nvPr/>
        </p:nvSpPr>
        <p:spPr>
          <a:xfrm>
            <a:off x="6492240" y="1764792"/>
            <a:ext cx="4846320" cy="274320"/>
          </a:xfrm>
          <a:prstGeom prst="rect">
            <a:avLst/>
          </a:prstGeom>
          <a:noFill/>
          <a:ln/>
        </p:spPr>
        <p:txBody>
          <a:bodyPr wrap="square" lIns="0" tIns="0" rIns="0" bIns="0" rtlCol="0" anchor="ctr"/>
          <a:lstStyle/>
          <a:p>
            <a:pPr marL="0" indent="0">
              <a:buNone/>
            </a:pPr>
            <a:r>
              <a:rPr lang="en-US" sz="1500" b="1" dirty="0">
                <a:solidFill>
                  <a:srgbClr val="F7FAFC"/>
                </a:solidFill>
              </a:rPr>
              <a:t>Instruction fine-tuning</a:t>
            </a:r>
            <a:endParaRPr lang="en-US" sz="1500" dirty="0"/>
          </a:p>
        </p:txBody>
      </p:sp>
      <p:sp>
        <p:nvSpPr>
          <p:cNvPr id="11" name="Text 9"/>
          <p:cNvSpPr/>
          <p:nvPr/>
        </p:nvSpPr>
        <p:spPr>
          <a:xfrm>
            <a:off x="6492240" y="2130552"/>
            <a:ext cx="4800600" cy="3502152"/>
          </a:xfrm>
          <a:prstGeom prst="rect">
            <a:avLst/>
          </a:prstGeom>
          <a:noFill/>
          <a:ln/>
        </p:spPr>
        <p:txBody>
          <a:bodyPr wrap="square" lIns="0" tIns="0" rIns="0" bIns="0" rtlCol="0" anchor="ctr">
            <a:normAutofit/>
          </a:bodyPr>
          <a:lstStyle/>
          <a:p>
            <a:pPr marL="0" indent="0">
              <a:buNone/>
            </a:pPr>
            <a:r>
              <a:rPr lang="en-US" sz="1150" dirty="0">
                <a:solidFill>
                  <a:srgbClr val="A9BDD4"/>
                </a:solidFill>
              </a:rPr>
              <a:t>Dataset: instruction + context → ideal response</a:t>
            </a:r>
            <a:endParaRPr lang="en-US" sz="1150" dirty="0"/>
          </a:p>
          <a:p>
            <a:pPr marL="0" indent="0">
              <a:buNone/>
            </a:pPr>
            <a:endParaRPr lang="en-US" sz="1150" dirty="0"/>
          </a:p>
          <a:p>
            <a:pPr marL="0" indent="0">
              <a:buNone/>
            </a:pPr>
            <a:r>
              <a:rPr lang="en-US" sz="1150" dirty="0">
                <a:solidFill>
                  <a:srgbClr val="A9BDD4"/>
                </a:solidFill>
              </a:rPr>
              <a:t>Good for:</a:t>
            </a:r>
            <a:endParaRPr lang="en-US" sz="1150" dirty="0"/>
          </a:p>
          <a:p>
            <a:pPr marL="0" indent="0">
              <a:buNone/>
            </a:pPr>
            <a:r>
              <a:rPr lang="en-US" sz="1150" dirty="0">
                <a:solidFill>
                  <a:srgbClr val="A9BDD4"/>
                </a:solidFill>
              </a:rPr>
              <a:t>• Chat assistants</a:t>
            </a:r>
            <a:endParaRPr lang="en-US" sz="1150" dirty="0"/>
          </a:p>
          <a:p>
            <a:pPr marL="0" indent="0">
              <a:buNone/>
            </a:pPr>
            <a:r>
              <a:rPr lang="en-US" sz="1150" dirty="0">
                <a:solidFill>
                  <a:srgbClr val="A9BDD4"/>
                </a:solidFill>
              </a:rPr>
              <a:t>• Question answering</a:t>
            </a:r>
            <a:endParaRPr lang="en-US" sz="1150" dirty="0"/>
          </a:p>
          <a:p>
            <a:pPr marL="0" indent="0">
              <a:buNone/>
            </a:pPr>
            <a:r>
              <a:rPr lang="en-US" sz="1150" dirty="0">
                <a:solidFill>
                  <a:srgbClr val="A9BDD4"/>
                </a:solidFill>
              </a:rPr>
              <a:t>• Multi-task generalization</a:t>
            </a:r>
            <a:endParaRPr lang="en-US" sz="1150" dirty="0"/>
          </a:p>
          <a:p>
            <a:pPr marL="0" indent="0">
              <a:buNone/>
            </a:pPr>
            <a:r>
              <a:rPr lang="en-US" sz="1150" dirty="0">
                <a:solidFill>
                  <a:srgbClr val="A9BDD4"/>
                </a:solidFill>
              </a:rPr>
              <a:t>• Open-ended instruction following</a:t>
            </a:r>
            <a:endParaRPr lang="en-US" sz="1150" dirty="0"/>
          </a:p>
        </p:txBody>
      </p:sp>
      <p:sp>
        <p:nvSpPr>
          <p:cNvPr id="25" name="Slide Number Placeholder 0"/>
          <p:cNvSpPr>
            <a:spLocks noGrp="1"/>
          </p:cNvSpPr>
          <p:nvPr>
            <p:ph type="sldNum" sz="quarter" idx="4294967295"/>
          </p:nvPr>
        </p:nvSpPr>
        <p:spPr>
          <a:xfrm>
            <a:off x="11631613" y="6510338"/>
            <a:ext cx="800100" cy="300037"/>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48640" y="566928"/>
            <a:ext cx="11064240" cy="502920"/>
          </a:xfrm>
          <a:prstGeom prst="rect">
            <a:avLst/>
          </a:prstGeom>
          <a:noFill/>
          <a:ln/>
        </p:spPr>
        <p:txBody>
          <a:bodyPr wrap="square" lIns="0" tIns="0" rIns="0" bIns="0" rtlCol="0" anchor="ctr"/>
          <a:lstStyle/>
          <a:p>
            <a:pPr marL="0" indent="0">
              <a:buNone/>
            </a:pPr>
            <a:r>
              <a:rPr lang="en-US" sz="2700" b="1" dirty="0">
                <a:solidFill>
                  <a:srgbClr val="F7FAFC"/>
                </a:solidFill>
              </a:rPr>
              <a:t>Parameter-efficient fine-tuning (PEFT)</a:t>
            </a:r>
            <a:endParaRPr lang="en-US" sz="2700" dirty="0"/>
          </a:p>
        </p:txBody>
      </p:sp>
      <p:sp>
        <p:nvSpPr>
          <p:cNvPr id="3" name="Text 1"/>
          <p:cNvSpPr/>
          <p:nvPr/>
        </p:nvSpPr>
        <p:spPr>
          <a:xfrm>
            <a:off x="566928" y="1078992"/>
            <a:ext cx="10789920" cy="310896"/>
          </a:xfrm>
          <a:prstGeom prst="rect">
            <a:avLst/>
          </a:prstGeom>
          <a:noFill/>
          <a:ln/>
        </p:spPr>
        <p:txBody>
          <a:bodyPr wrap="square" lIns="0" tIns="0" rIns="0" bIns="0" rtlCol="0" anchor="ctr"/>
          <a:lstStyle/>
          <a:p>
            <a:pPr marL="0" indent="0">
              <a:buNone/>
            </a:pPr>
            <a:r>
              <a:rPr lang="en-US" sz="1250" dirty="0">
                <a:solidFill>
                  <a:srgbClr val="A9BDD4"/>
                </a:solidFill>
              </a:rPr>
              <a:t>Keep most of the foundation model frozen and train only a small set of added or selected parameters.</a:t>
            </a:r>
            <a:endParaRPr lang="en-US" sz="1250" dirty="0"/>
          </a:p>
        </p:txBody>
      </p:sp>
      <p:sp>
        <p:nvSpPr>
          <p:cNvPr id="4" name="Shape 2"/>
          <p:cNvSpPr/>
          <p:nvPr/>
        </p:nvSpPr>
        <p:spPr>
          <a:xfrm>
            <a:off x="685800" y="1737360"/>
            <a:ext cx="3429000" cy="2148840"/>
          </a:xfrm>
          <a:prstGeom prst="roundRect">
            <a:avLst>
              <a:gd name="adj" fmla="val 3404"/>
            </a:avLst>
          </a:prstGeom>
          <a:solidFill>
            <a:srgbClr val="0E223C">
              <a:alpha val="97000"/>
            </a:srgbClr>
          </a:solidFill>
          <a:ln w="12700">
            <a:solidFill>
              <a:srgbClr val="21476B"/>
            </a:solidFill>
            <a:prstDash val="solid"/>
          </a:ln>
        </p:spPr>
      </p:sp>
      <p:sp>
        <p:nvSpPr>
          <p:cNvPr id="5" name="Shape 3"/>
          <p:cNvSpPr/>
          <p:nvPr/>
        </p:nvSpPr>
        <p:spPr>
          <a:xfrm>
            <a:off x="704088" y="1783080"/>
            <a:ext cx="64008" cy="2057400"/>
          </a:xfrm>
          <a:prstGeom prst="rect">
            <a:avLst/>
          </a:prstGeom>
          <a:solidFill>
            <a:srgbClr val="3B82F6"/>
          </a:solidFill>
          <a:ln w="12700">
            <a:solidFill>
              <a:srgbClr val="3B82F6"/>
            </a:solidFill>
            <a:prstDash val="solid"/>
          </a:ln>
        </p:spPr>
      </p:sp>
      <p:sp>
        <p:nvSpPr>
          <p:cNvPr id="6" name="Text 4"/>
          <p:cNvSpPr/>
          <p:nvPr/>
        </p:nvSpPr>
        <p:spPr>
          <a:xfrm>
            <a:off x="914400" y="1901952"/>
            <a:ext cx="3063240" cy="274320"/>
          </a:xfrm>
          <a:prstGeom prst="rect">
            <a:avLst/>
          </a:prstGeom>
          <a:noFill/>
          <a:ln/>
        </p:spPr>
        <p:txBody>
          <a:bodyPr wrap="square" lIns="0" tIns="0" rIns="0" bIns="0" rtlCol="0" anchor="ctr"/>
          <a:lstStyle/>
          <a:p>
            <a:pPr marL="0" indent="0">
              <a:buNone/>
            </a:pPr>
            <a:r>
              <a:rPr lang="en-US" sz="1500" b="1" dirty="0">
                <a:solidFill>
                  <a:srgbClr val="F7FAFC"/>
                </a:solidFill>
              </a:rPr>
              <a:t>Adapter layers</a:t>
            </a:r>
            <a:endParaRPr lang="en-US" sz="1500" dirty="0"/>
          </a:p>
        </p:txBody>
      </p:sp>
      <p:sp>
        <p:nvSpPr>
          <p:cNvPr id="7" name="Text 5"/>
          <p:cNvSpPr/>
          <p:nvPr/>
        </p:nvSpPr>
        <p:spPr>
          <a:xfrm>
            <a:off x="914400" y="2267712"/>
            <a:ext cx="3017520" cy="1490472"/>
          </a:xfrm>
          <a:prstGeom prst="rect">
            <a:avLst/>
          </a:prstGeom>
          <a:noFill/>
          <a:ln/>
        </p:spPr>
        <p:txBody>
          <a:bodyPr wrap="square" lIns="0" tIns="0" rIns="0" bIns="0" rtlCol="0" anchor="ctr">
            <a:normAutofit/>
          </a:bodyPr>
          <a:lstStyle/>
          <a:p>
            <a:pPr marL="0" indent="0">
              <a:buNone/>
            </a:pPr>
            <a:r>
              <a:rPr lang="en-US" sz="1150" dirty="0">
                <a:solidFill>
                  <a:srgbClr val="A9BDD4"/>
                </a:solidFill>
              </a:rPr>
              <a:t>Small modules inserted between existing layers</a:t>
            </a:r>
            <a:endParaRPr lang="en-US" sz="1150" dirty="0"/>
          </a:p>
        </p:txBody>
      </p:sp>
      <p:sp>
        <p:nvSpPr>
          <p:cNvPr id="8" name="Shape 6"/>
          <p:cNvSpPr/>
          <p:nvPr/>
        </p:nvSpPr>
        <p:spPr>
          <a:xfrm>
            <a:off x="4526280" y="1737360"/>
            <a:ext cx="3429000" cy="2148840"/>
          </a:xfrm>
          <a:prstGeom prst="roundRect">
            <a:avLst>
              <a:gd name="adj" fmla="val 3404"/>
            </a:avLst>
          </a:prstGeom>
          <a:solidFill>
            <a:srgbClr val="0E223C">
              <a:alpha val="97000"/>
            </a:srgbClr>
          </a:solidFill>
          <a:ln w="12700">
            <a:solidFill>
              <a:srgbClr val="21476B"/>
            </a:solidFill>
            <a:prstDash val="solid"/>
          </a:ln>
        </p:spPr>
      </p:sp>
      <p:sp>
        <p:nvSpPr>
          <p:cNvPr id="9" name="Shape 7"/>
          <p:cNvSpPr/>
          <p:nvPr/>
        </p:nvSpPr>
        <p:spPr>
          <a:xfrm>
            <a:off x="4544568" y="1783080"/>
            <a:ext cx="64008" cy="2057400"/>
          </a:xfrm>
          <a:prstGeom prst="rect">
            <a:avLst/>
          </a:prstGeom>
          <a:solidFill>
            <a:srgbClr val="A855F7"/>
          </a:solidFill>
          <a:ln w="12700">
            <a:solidFill>
              <a:srgbClr val="A855F7"/>
            </a:solidFill>
            <a:prstDash val="solid"/>
          </a:ln>
        </p:spPr>
      </p:sp>
      <p:sp>
        <p:nvSpPr>
          <p:cNvPr id="10" name="Text 8"/>
          <p:cNvSpPr/>
          <p:nvPr/>
        </p:nvSpPr>
        <p:spPr>
          <a:xfrm>
            <a:off x="4754880" y="1901952"/>
            <a:ext cx="3063240" cy="274320"/>
          </a:xfrm>
          <a:prstGeom prst="rect">
            <a:avLst/>
          </a:prstGeom>
          <a:noFill/>
          <a:ln/>
        </p:spPr>
        <p:txBody>
          <a:bodyPr wrap="square" lIns="0" tIns="0" rIns="0" bIns="0" rtlCol="0" anchor="ctr"/>
          <a:lstStyle/>
          <a:p>
            <a:pPr marL="0" indent="0">
              <a:buNone/>
            </a:pPr>
            <a:r>
              <a:rPr lang="en-US" sz="1500" b="1" dirty="0">
                <a:solidFill>
                  <a:srgbClr val="F7FAFC"/>
                </a:solidFill>
              </a:rPr>
              <a:t>LoRA</a:t>
            </a:r>
            <a:endParaRPr lang="en-US" sz="1500" dirty="0"/>
          </a:p>
        </p:txBody>
      </p:sp>
      <p:sp>
        <p:nvSpPr>
          <p:cNvPr id="11" name="Text 9"/>
          <p:cNvSpPr/>
          <p:nvPr/>
        </p:nvSpPr>
        <p:spPr>
          <a:xfrm>
            <a:off x="4754880" y="2267712"/>
            <a:ext cx="3017520" cy="1490472"/>
          </a:xfrm>
          <a:prstGeom prst="rect">
            <a:avLst/>
          </a:prstGeom>
          <a:noFill/>
          <a:ln/>
        </p:spPr>
        <p:txBody>
          <a:bodyPr wrap="square" lIns="0" tIns="0" rIns="0" bIns="0" rtlCol="0" anchor="ctr">
            <a:normAutofit/>
          </a:bodyPr>
          <a:lstStyle/>
          <a:p>
            <a:pPr marL="0" indent="0">
              <a:buNone/>
            </a:pPr>
            <a:r>
              <a:rPr lang="en-US" sz="1150" dirty="0">
                <a:solidFill>
                  <a:srgbClr val="A9BDD4"/>
                </a:solidFill>
              </a:rPr>
              <a:t>Low-rank matrices approximate the weight update</a:t>
            </a:r>
            <a:endParaRPr lang="en-US" sz="1150" dirty="0"/>
          </a:p>
        </p:txBody>
      </p:sp>
      <p:sp>
        <p:nvSpPr>
          <p:cNvPr id="12" name="Shape 10"/>
          <p:cNvSpPr/>
          <p:nvPr/>
        </p:nvSpPr>
        <p:spPr>
          <a:xfrm>
            <a:off x="8366760" y="1737360"/>
            <a:ext cx="3429000" cy="2148840"/>
          </a:xfrm>
          <a:prstGeom prst="roundRect">
            <a:avLst>
              <a:gd name="adj" fmla="val 3404"/>
            </a:avLst>
          </a:prstGeom>
          <a:solidFill>
            <a:srgbClr val="0E223C">
              <a:alpha val="97000"/>
            </a:srgbClr>
          </a:solidFill>
          <a:ln w="12700">
            <a:solidFill>
              <a:srgbClr val="21476B"/>
            </a:solidFill>
            <a:prstDash val="solid"/>
          </a:ln>
        </p:spPr>
      </p:sp>
      <p:sp>
        <p:nvSpPr>
          <p:cNvPr id="13" name="Shape 11"/>
          <p:cNvSpPr/>
          <p:nvPr/>
        </p:nvSpPr>
        <p:spPr>
          <a:xfrm>
            <a:off x="8385048" y="1783080"/>
            <a:ext cx="64008" cy="2057400"/>
          </a:xfrm>
          <a:prstGeom prst="rect">
            <a:avLst/>
          </a:prstGeom>
          <a:solidFill>
            <a:srgbClr val="20D5FF"/>
          </a:solidFill>
          <a:ln w="12700">
            <a:solidFill>
              <a:srgbClr val="20D5FF"/>
            </a:solidFill>
            <a:prstDash val="solid"/>
          </a:ln>
        </p:spPr>
      </p:sp>
      <p:sp>
        <p:nvSpPr>
          <p:cNvPr id="14" name="Text 12"/>
          <p:cNvSpPr/>
          <p:nvPr/>
        </p:nvSpPr>
        <p:spPr>
          <a:xfrm>
            <a:off x="8595360" y="1901952"/>
            <a:ext cx="3063240" cy="274320"/>
          </a:xfrm>
          <a:prstGeom prst="rect">
            <a:avLst/>
          </a:prstGeom>
          <a:noFill/>
          <a:ln/>
        </p:spPr>
        <p:txBody>
          <a:bodyPr wrap="square" lIns="0" tIns="0" rIns="0" bIns="0" rtlCol="0" anchor="ctr"/>
          <a:lstStyle/>
          <a:p>
            <a:pPr marL="0" indent="0">
              <a:buNone/>
            </a:pPr>
            <a:r>
              <a:rPr lang="en-US" sz="1500" b="1" dirty="0">
                <a:solidFill>
                  <a:srgbClr val="F7FAFC"/>
                </a:solidFill>
              </a:rPr>
              <a:t>Prefix / prompt tuning</a:t>
            </a:r>
            <a:endParaRPr lang="en-US" sz="1500" dirty="0"/>
          </a:p>
        </p:txBody>
      </p:sp>
      <p:sp>
        <p:nvSpPr>
          <p:cNvPr id="15" name="Text 13"/>
          <p:cNvSpPr/>
          <p:nvPr/>
        </p:nvSpPr>
        <p:spPr>
          <a:xfrm>
            <a:off x="8595360" y="2267712"/>
            <a:ext cx="3017520" cy="1490472"/>
          </a:xfrm>
          <a:prstGeom prst="rect">
            <a:avLst/>
          </a:prstGeom>
          <a:noFill/>
          <a:ln/>
        </p:spPr>
        <p:txBody>
          <a:bodyPr wrap="square" lIns="0" tIns="0" rIns="0" bIns="0" rtlCol="0" anchor="ctr">
            <a:normAutofit/>
          </a:bodyPr>
          <a:lstStyle/>
          <a:p>
            <a:pPr marL="0" indent="0">
              <a:buNone/>
            </a:pPr>
            <a:r>
              <a:rPr lang="en-US" sz="1150" dirty="0">
                <a:solidFill>
                  <a:srgbClr val="A9BDD4"/>
                </a:solidFill>
              </a:rPr>
              <a:t>Train continuous virtual tokens or prefixes</a:t>
            </a:r>
            <a:endParaRPr lang="en-US" sz="1150" dirty="0"/>
          </a:p>
        </p:txBody>
      </p:sp>
      <p:sp>
        <p:nvSpPr>
          <p:cNvPr id="16" name="Shape 14"/>
          <p:cNvSpPr/>
          <p:nvPr/>
        </p:nvSpPr>
        <p:spPr>
          <a:xfrm>
            <a:off x="1143000" y="4343400"/>
            <a:ext cx="9875520" cy="1051560"/>
          </a:xfrm>
          <a:prstGeom prst="roundRect">
            <a:avLst/>
          </a:prstGeom>
          <a:solidFill>
            <a:srgbClr val="143252"/>
          </a:solidFill>
          <a:ln w="12700">
            <a:solidFill>
              <a:srgbClr val="52D3A3"/>
            </a:solidFill>
            <a:prstDash val="solid"/>
          </a:ln>
        </p:spPr>
      </p:sp>
      <p:sp>
        <p:nvSpPr>
          <p:cNvPr id="17" name="Text 15"/>
          <p:cNvSpPr/>
          <p:nvPr/>
        </p:nvSpPr>
        <p:spPr>
          <a:xfrm>
            <a:off x="1417320" y="4663440"/>
            <a:ext cx="9326880" cy="365760"/>
          </a:xfrm>
          <a:prstGeom prst="rect">
            <a:avLst/>
          </a:prstGeom>
          <a:noFill/>
          <a:ln/>
        </p:spPr>
        <p:txBody>
          <a:bodyPr wrap="square" lIns="0" tIns="0" rIns="0" bIns="0" rtlCol="0" anchor="ctr"/>
          <a:lstStyle/>
          <a:p>
            <a:pPr marL="0" indent="0" algn="ctr">
              <a:buNone/>
            </a:pPr>
            <a:r>
              <a:rPr lang="en-US" sz="1800" b="1" dirty="0">
                <a:solidFill>
                  <a:srgbClr val="F7FAFC"/>
                </a:solidFill>
              </a:rPr>
              <a:t>Why PEFT?  Less optimizer memory • Faster experiments • Small task-specific checkpoints</a:t>
            </a:r>
            <a:endParaRPr lang="en-US" sz="1800" dirty="0"/>
          </a:p>
        </p:txBody>
      </p:sp>
      <p:sp>
        <p:nvSpPr>
          <p:cNvPr id="25" name="Slide Number Placeholder 0"/>
          <p:cNvSpPr>
            <a:spLocks noGrp="1"/>
          </p:cNvSpPr>
          <p:nvPr>
            <p:ph type="sldNum" sz="quarter" idx="4294967295"/>
          </p:nvPr>
        </p:nvSpPr>
        <p:spPr>
          <a:xfrm>
            <a:off x="11631613" y="6510338"/>
            <a:ext cx="800100" cy="300037"/>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548640" y="566928"/>
            <a:ext cx="11064240" cy="502920"/>
          </a:xfrm>
          <a:prstGeom prst="rect">
            <a:avLst/>
          </a:prstGeom>
          <a:noFill/>
          <a:ln/>
        </p:spPr>
        <p:txBody>
          <a:bodyPr wrap="square" lIns="0" tIns="0" rIns="0" bIns="0" rtlCol="0" anchor="ctr"/>
          <a:lstStyle/>
          <a:p>
            <a:pPr marL="0" indent="0">
              <a:buNone/>
            </a:pPr>
            <a:r>
              <a:rPr lang="en-US" sz="2700" b="1" dirty="0">
                <a:solidFill>
                  <a:srgbClr val="F7FAFC"/>
                </a:solidFill>
              </a:rPr>
              <a:t>LoRA: Low-Rank Adaptation</a:t>
            </a:r>
            <a:endParaRPr lang="en-US" sz="2700" dirty="0"/>
          </a:p>
        </p:txBody>
      </p:sp>
      <p:sp>
        <p:nvSpPr>
          <p:cNvPr id="3" name="Text 1"/>
          <p:cNvSpPr/>
          <p:nvPr/>
        </p:nvSpPr>
        <p:spPr>
          <a:xfrm>
            <a:off x="566928" y="1078992"/>
            <a:ext cx="10789920" cy="310896"/>
          </a:xfrm>
          <a:prstGeom prst="rect">
            <a:avLst/>
          </a:prstGeom>
          <a:noFill/>
          <a:ln/>
        </p:spPr>
        <p:txBody>
          <a:bodyPr wrap="square" lIns="0" tIns="0" rIns="0" bIns="0" rtlCol="0" anchor="ctr"/>
          <a:lstStyle/>
          <a:p>
            <a:pPr marL="0" indent="0">
              <a:buNone/>
            </a:pPr>
            <a:r>
              <a:rPr lang="en-US" sz="1250" dirty="0">
                <a:solidFill>
                  <a:srgbClr val="A9BDD4"/>
                </a:solidFill>
              </a:rPr>
              <a:t>Train a compact update while the original weight matrix remains frozen.</a:t>
            </a:r>
            <a:endParaRPr lang="en-US" sz="1250" dirty="0"/>
          </a:p>
        </p:txBody>
      </p:sp>
      <p:sp>
        <p:nvSpPr>
          <p:cNvPr id="4" name="Shape 2"/>
          <p:cNvSpPr/>
          <p:nvPr/>
        </p:nvSpPr>
        <p:spPr>
          <a:xfrm>
            <a:off x="685800" y="1600200"/>
            <a:ext cx="4663440" cy="4343400"/>
          </a:xfrm>
          <a:prstGeom prst="roundRect">
            <a:avLst/>
          </a:prstGeom>
          <a:solidFill>
            <a:srgbClr val="0E223C"/>
          </a:solidFill>
          <a:ln w="12700">
            <a:solidFill>
              <a:srgbClr val="20D5FF"/>
            </a:solidFill>
            <a:prstDash val="solid"/>
          </a:ln>
        </p:spPr>
      </p:sp>
      <p:sp>
        <p:nvSpPr>
          <p:cNvPr id="5" name="Text 3"/>
          <p:cNvSpPr/>
          <p:nvPr/>
        </p:nvSpPr>
        <p:spPr>
          <a:xfrm>
            <a:off x="1051560" y="1874520"/>
            <a:ext cx="1691640" cy="320040"/>
          </a:xfrm>
          <a:prstGeom prst="rect">
            <a:avLst/>
          </a:prstGeom>
          <a:noFill/>
          <a:ln/>
        </p:spPr>
        <p:txBody>
          <a:bodyPr wrap="square" lIns="0" tIns="0" rIns="0" bIns="0" rtlCol="0" anchor="ctr"/>
          <a:lstStyle/>
          <a:p>
            <a:pPr marL="0" indent="0" algn="ctr">
              <a:buNone/>
            </a:pPr>
            <a:r>
              <a:rPr lang="en-US" sz="1700" b="1" dirty="0">
                <a:solidFill>
                  <a:srgbClr val="F7FAFC"/>
                </a:solidFill>
              </a:rPr>
              <a:t>Frozen weight</a:t>
            </a:r>
            <a:endParaRPr lang="en-US" sz="1700" dirty="0"/>
          </a:p>
        </p:txBody>
      </p:sp>
      <p:sp>
        <p:nvSpPr>
          <p:cNvPr id="6" name="Shape 4"/>
          <p:cNvSpPr/>
          <p:nvPr/>
        </p:nvSpPr>
        <p:spPr>
          <a:xfrm>
            <a:off x="1188720" y="2514600"/>
            <a:ext cx="1417320" cy="1417320"/>
          </a:xfrm>
          <a:prstGeom prst="rect">
            <a:avLst/>
          </a:prstGeom>
          <a:solidFill>
            <a:srgbClr val="3B82F6">
              <a:alpha val="90000"/>
            </a:srgbClr>
          </a:solidFill>
          <a:ln w="12700">
            <a:solidFill>
              <a:srgbClr val="F7FAFC">
                <a:alpha val="45000"/>
              </a:srgbClr>
            </a:solidFill>
            <a:prstDash val="solid"/>
          </a:ln>
        </p:spPr>
      </p:sp>
      <p:sp>
        <p:nvSpPr>
          <p:cNvPr id="7" name="Text 5"/>
          <p:cNvSpPr/>
          <p:nvPr/>
        </p:nvSpPr>
        <p:spPr>
          <a:xfrm>
            <a:off x="1627632" y="2926080"/>
            <a:ext cx="548640" cy="502920"/>
          </a:xfrm>
          <a:prstGeom prst="rect">
            <a:avLst/>
          </a:prstGeom>
          <a:noFill/>
          <a:ln/>
        </p:spPr>
        <p:txBody>
          <a:bodyPr wrap="square" lIns="0" tIns="0" rIns="0" bIns="0" rtlCol="0" anchor="ctr"/>
          <a:lstStyle/>
          <a:p>
            <a:pPr marL="0" indent="0" algn="ctr">
              <a:buNone/>
            </a:pPr>
            <a:r>
              <a:rPr lang="en-US" sz="2800" b="1" dirty="0">
                <a:solidFill>
                  <a:srgbClr val="F7FAFC"/>
                </a:solidFill>
              </a:rPr>
              <a:t>W</a:t>
            </a:r>
            <a:endParaRPr lang="en-US" sz="2800" dirty="0"/>
          </a:p>
        </p:txBody>
      </p:sp>
      <p:sp>
        <p:nvSpPr>
          <p:cNvPr id="8" name="Text 6"/>
          <p:cNvSpPr/>
          <p:nvPr/>
        </p:nvSpPr>
        <p:spPr>
          <a:xfrm>
            <a:off x="2834640" y="2880360"/>
            <a:ext cx="548640" cy="548640"/>
          </a:xfrm>
          <a:prstGeom prst="rect">
            <a:avLst/>
          </a:prstGeom>
          <a:noFill/>
          <a:ln/>
        </p:spPr>
        <p:txBody>
          <a:bodyPr wrap="square" lIns="0" tIns="0" rIns="0" bIns="0" rtlCol="0" anchor="ctr"/>
          <a:lstStyle/>
          <a:p>
            <a:pPr marL="0" indent="0" algn="ctr">
              <a:buNone/>
            </a:pPr>
            <a:r>
              <a:rPr lang="en-US" sz="3000" dirty="0">
                <a:solidFill>
                  <a:srgbClr val="20D5FF"/>
                </a:solidFill>
              </a:rPr>
              <a:t>＋</a:t>
            </a:r>
            <a:endParaRPr lang="en-US" sz="3000" dirty="0"/>
          </a:p>
        </p:txBody>
      </p:sp>
      <p:sp>
        <p:nvSpPr>
          <p:cNvPr id="9" name="Shape 7"/>
          <p:cNvSpPr/>
          <p:nvPr/>
        </p:nvSpPr>
        <p:spPr>
          <a:xfrm>
            <a:off x="3611880" y="2395728"/>
            <a:ext cx="502920" cy="1664208"/>
          </a:xfrm>
          <a:prstGeom prst="rect">
            <a:avLst/>
          </a:prstGeom>
          <a:solidFill>
            <a:srgbClr val="A855F7"/>
          </a:solidFill>
          <a:ln w="12700">
            <a:solidFill>
              <a:srgbClr val="A855F7"/>
            </a:solidFill>
            <a:prstDash val="solid"/>
          </a:ln>
        </p:spPr>
      </p:sp>
      <p:sp>
        <p:nvSpPr>
          <p:cNvPr id="10" name="Shape 8"/>
          <p:cNvSpPr/>
          <p:nvPr/>
        </p:nvSpPr>
        <p:spPr>
          <a:xfrm>
            <a:off x="4224528" y="2926080"/>
            <a:ext cx="749808" cy="566928"/>
          </a:xfrm>
          <a:prstGeom prst="rect">
            <a:avLst/>
          </a:prstGeom>
          <a:solidFill>
            <a:srgbClr val="A855F7">
              <a:alpha val="75000"/>
            </a:srgbClr>
          </a:solidFill>
          <a:ln w="12700">
            <a:solidFill>
              <a:srgbClr val="A855F7"/>
            </a:solidFill>
            <a:prstDash val="solid"/>
          </a:ln>
        </p:spPr>
      </p:sp>
      <p:sp>
        <p:nvSpPr>
          <p:cNvPr id="11" name="Text 9"/>
          <p:cNvSpPr/>
          <p:nvPr/>
        </p:nvSpPr>
        <p:spPr>
          <a:xfrm>
            <a:off x="3520440" y="4251960"/>
            <a:ext cx="1600200" cy="320040"/>
          </a:xfrm>
          <a:prstGeom prst="rect">
            <a:avLst/>
          </a:prstGeom>
          <a:noFill/>
          <a:ln/>
        </p:spPr>
        <p:txBody>
          <a:bodyPr wrap="square" lIns="0" tIns="0" rIns="0" bIns="0" rtlCol="0" anchor="ctr"/>
          <a:lstStyle/>
          <a:p>
            <a:pPr marL="0" indent="0" algn="ctr">
              <a:buNone/>
            </a:pPr>
            <a:r>
              <a:rPr lang="en-US" sz="1700" b="1" dirty="0">
                <a:solidFill>
                  <a:srgbClr val="A855F7"/>
                </a:solidFill>
              </a:rPr>
              <a:t>B × A</a:t>
            </a:r>
            <a:endParaRPr lang="en-US" sz="1700" dirty="0"/>
          </a:p>
        </p:txBody>
      </p:sp>
      <p:sp>
        <p:nvSpPr>
          <p:cNvPr id="12" name="Text 10"/>
          <p:cNvSpPr/>
          <p:nvPr/>
        </p:nvSpPr>
        <p:spPr>
          <a:xfrm>
            <a:off x="1188720" y="4892040"/>
            <a:ext cx="3657600" cy="438912"/>
          </a:xfrm>
          <a:prstGeom prst="rect">
            <a:avLst/>
          </a:prstGeom>
          <a:noFill/>
          <a:ln/>
        </p:spPr>
        <p:txBody>
          <a:bodyPr wrap="square" lIns="0" tIns="0" rIns="0" bIns="0" rtlCol="0" anchor="ctr"/>
          <a:lstStyle/>
          <a:p>
            <a:pPr marL="0" indent="0" algn="ctr">
              <a:buNone/>
            </a:pPr>
            <a:r>
              <a:rPr lang="en-US" sz="2200" b="1" dirty="0">
                <a:solidFill>
                  <a:srgbClr val="20D5FF"/>
                </a:solidFill>
              </a:rPr>
              <a:t>W′ = W + α/r · BA</a:t>
            </a:r>
            <a:endParaRPr lang="en-US" sz="2200" dirty="0"/>
          </a:p>
        </p:txBody>
      </p:sp>
      <p:pic>
        <p:nvPicPr>
          <p:cNvPr id="13" name="Image 0" descr="/mnt/data/d690f37694.png"/>
          <p:cNvPicPr>
            <a:picLocks noChangeAspect="1"/>
          </p:cNvPicPr>
          <p:nvPr/>
        </p:nvPicPr>
        <p:blipFill>
          <a:blip r:embed="rId3"/>
          <a:stretch>
            <a:fillRect/>
          </a:stretch>
        </p:blipFill>
        <p:spPr>
          <a:xfrm>
            <a:off x="5623560" y="1572768"/>
            <a:ext cx="5897880" cy="4370832"/>
          </a:xfrm>
          <a:prstGeom prst="rect">
            <a:avLst/>
          </a:prstGeom>
        </p:spPr>
      </p:pic>
      <p:sp>
        <p:nvSpPr>
          <p:cNvPr id="14" name="Shape 11"/>
          <p:cNvSpPr/>
          <p:nvPr/>
        </p:nvSpPr>
        <p:spPr>
          <a:xfrm>
            <a:off x="5623560" y="1572768"/>
            <a:ext cx="5897880" cy="4370832"/>
          </a:xfrm>
          <a:prstGeom prst="rect">
            <a:avLst/>
          </a:prstGeom>
          <a:solidFill>
            <a:srgbClr val="071426">
              <a:alpha val="46000"/>
            </a:srgbClr>
          </a:solidFill>
          <a:ln w="12700">
            <a:solidFill>
              <a:srgbClr val="071426">
                <a:alpha val="0"/>
              </a:srgbClr>
            </a:solidFill>
            <a:prstDash val="solid"/>
          </a:ln>
        </p:spPr>
      </p:sp>
      <p:sp>
        <p:nvSpPr>
          <p:cNvPr id="15" name="Shape 12"/>
          <p:cNvSpPr/>
          <p:nvPr/>
        </p:nvSpPr>
        <p:spPr>
          <a:xfrm>
            <a:off x="5989320" y="2011680"/>
            <a:ext cx="5138928" cy="932688"/>
          </a:xfrm>
          <a:prstGeom prst="roundRect">
            <a:avLst>
              <a:gd name="adj" fmla="val 7843"/>
            </a:avLst>
          </a:prstGeom>
          <a:solidFill>
            <a:srgbClr val="0E223C">
              <a:alpha val="97000"/>
            </a:srgbClr>
          </a:solidFill>
          <a:ln w="12700">
            <a:solidFill>
              <a:srgbClr val="21476B"/>
            </a:solidFill>
            <a:prstDash val="solid"/>
          </a:ln>
        </p:spPr>
      </p:sp>
      <p:sp>
        <p:nvSpPr>
          <p:cNvPr id="16" name="Shape 13"/>
          <p:cNvSpPr/>
          <p:nvPr/>
        </p:nvSpPr>
        <p:spPr>
          <a:xfrm>
            <a:off x="6007608" y="2057400"/>
            <a:ext cx="64008" cy="841248"/>
          </a:xfrm>
          <a:prstGeom prst="rect">
            <a:avLst/>
          </a:prstGeom>
          <a:solidFill>
            <a:srgbClr val="3B82F6"/>
          </a:solidFill>
          <a:ln w="12700">
            <a:solidFill>
              <a:srgbClr val="3B82F6"/>
            </a:solidFill>
            <a:prstDash val="solid"/>
          </a:ln>
        </p:spPr>
      </p:sp>
      <p:sp>
        <p:nvSpPr>
          <p:cNvPr id="17" name="Text 14"/>
          <p:cNvSpPr/>
          <p:nvPr/>
        </p:nvSpPr>
        <p:spPr>
          <a:xfrm>
            <a:off x="6217920" y="2176272"/>
            <a:ext cx="4773168" cy="274320"/>
          </a:xfrm>
          <a:prstGeom prst="rect">
            <a:avLst/>
          </a:prstGeom>
          <a:noFill/>
          <a:ln/>
        </p:spPr>
        <p:txBody>
          <a:bodyPr wrap="square" lIns="0" tIns="0" rIns="0" bIns="0" rtlCol="0" anchor="ctr"/>
          <a:lstStyle/>
          <a:p>
            <a:pPr marL="0" indent="0">
              <a:buNone/>
            </a:pPr>
            <a:r>
              <a:rPr lang="en-US" sz="1500" b="1" dirty="0">
                <a:solidFill>
                  <a:srgbClr val="F7FAFC"/>
                </a:solidFill>
              </a:rPr>
              <a:t>1. Freeze</a:t>
            </a:r>
            <a:endParaRPr lang="en-US" sz="1500" dirty="0"/>
          </a:p>
        </p:txBody>
      </p:sp>
      <p:sp>
        <p:nvSpPr>
          <p:cNvPr id="18" name="Text 15"/>
          <p:cNvSpPr/>
          <p:nvPr/>
        </p:nvSpPr>
        <p:spPr>
          <a:xfrm>
            <a:off x="6217920" y="2542032"/>
            <a:ext cx="4727448" cy="274320"/>
          </a:xfrm>
          <a:prstGeom prst="rect">
            <a:avLst/>
          </a:prstGeom>
          <a:noFill/>
          <a:ln/>
        </p:spPr>
        <p:txBody>
          <a:bodyPr wrap="square" lIns="0" tIns="0" rIns="0" bIns="0" rtlCol="0" anchor="ctr">
            <a:normAutofit/>
          </a:bodyPr>
          <a:lstStyle/>
          <a:p>
            <a:pPr marL="0" indent="0">
              <a:buNone/>
            </a:pPr>
            <a:r>
              <a:rPr lang="en-US" sz="1150" dirty="0">
                <a:solidFill>
                  <a:srgbClr val="A9BDD4"/>
                </a:solidFill>
              </a:rPr>
              <a:t>Keep the pre-trained weights unchanged.</a:t>
            </a:r>
            <a:endParaRPr lang="en-US" sz="1150" dirty="0"/>
          </a:p>
        </p:txBody>
      </p:sp>
      <p:sp>
        <p:nvSpPr>
          <p:cNvPr id="19" name="Shape 16"/>
          <p:cNvSpPr/>
          <p:nvPr/>
        </p:nvSpPr>
        <p:spPr>
          <a:xfrm>
            <a:off x="5989320" y="3182112"/>
            <a:ext cx="5138928" cy="932688"/>
          </a:xfrm>
          <a:prstGeom prst="roundRect">
            <a:avLst>
              <a:gd name="adj" fmla="val 7843"/>
            </a:avLst>
          </a:prstGeom>
          <a:solidFill>
            <a:srgbClr val="0E223C">
              <a:alpha val="97000"/>
            </a:srgbClr>
          </a:solidFill>
          <a:ln w="12700">
            <a:solidFill>
              <a:srgbClr val="21476B"/>
            </a:solidFill>
            <a:prstDash val="solid"/>
          </a:ln>
        </p:spPr>
      </p:sp>
      <p:sp>
        <p:nvSpPr>
          <p:cNvPr id="20" name="Shape 17"/>
          <p:cNvSpPr/>
          <p:nvPr/>
        </p:nvSpPr>
        <p:spPr>
          <a:xfrm>
            <a:off x="6007608" y="3227832"/>
            <a:ext cx="64008" cy="841248"/>
          </a:xfrm>
          <a:prstGeom prst="rect">
            <a:avLst/>
          </a:prstGeom>
          <a:solidFill>
            <a:srgbClr val="A855F7"/>
          </a:solidFill>
          <a:ln w="12700">
            <a:solidFill>
              <a:srgbClr val="A855F7"/>
            </a:solidFill>
            <a:prstDash val="solid"/>
          </a:ln>
        </p:spPr>
      </p:sp>
      <p:sp>
        <p:nvSpPr>
          <p:cNvPr id="21" name="Text 18"/>
          <p:cNvSpPr/>
          <p:nvPr/>
        </p:nvSpPr>
        <p:spPr>
          <a:xfrm>
            <a:off x="6217920" y="3346704"/>
            <a:ext cx="4773168" cy="274320"/>
          </a:xfrm>
          <a:prstGeom prst="rect">
            <a:avLst/>
          </a:prstGeom>
          <a:noFill/>
          <a:ln/>
        </p:spPr>
        <p:txBody>
          <a:bodyPr wrap="square" lIns="0" tIns="0" rIns="0" bIns="0" rtlCol="0" anchor="ctr"/>
          <a:lstStyle/>
          <a:p>
            <a:pPr marL="0" indent="0">
              <a:buNone/>
            </a:pPr>
            <a:r>
              <a:rPr lang="en-US" sz="1500" b="1" dirty="0">
                <a:solidFill>
                  <a:srgbClr val="F7FAFC"/>
                </a:solidFill>
              </a:rPr>
              <a:t>2. Add low-rank matrices</a:t>
            </a:r>
            <a:endParaRPr lang="en-US" sz="1500" dirty="0"/>
          </a:p>
        </p:txBody>
      </p:sp>
      <p:sp>
        <p:nvSpPr>
          <p:cNvPr id="22" name="Text 19"/>
          <p:cNvSpPr/>
          <p:nvPr/>
        </p:nvSpPr>
        <p:spPr>
          <a:xfrm>
            <a:off x="6217920" y="3712464"/>
            <a:ext cx="4727448" cy="274320"/>
          </a:xfrm>
          <a:prstGeom prst="rect">
            <a:avLst/>
          </a:prstGeom>
          <a:noFill/>
          <a:ln/>
        </p:spPr>
        <p:txBody>
          <a:bodyPr wrap="square" lIns="0" tIns="0" rIns="0" bIns="0" rtlCol="0" anchor="ctr">
            <a:normAutofit/>
          </a:bodyPr>
          <a:lstStyle/>
          <a:p>
            <a:pPr marL="0" indent="0">
              <a:buNone/>
            </a:pPr>
            <a:r>
              <a:rPr lang="en-US" sz="1150" dirty="0">
                <a:solidFill>
                  <a:srgbClr val="A9BDD4"/>
                </a:solidFill>
              </a:rPr>
              <a:t>Inject trainable A and B into selected linear layers.</a:t>
            </a:r>
            <a:endParaRPr lang="en-US" sz="1150" dirty="0"/>
          </a:p>
        </p:txBody>
      </p:sp>
      <p:sp>
        <p:nvSpPr>
          <p:cNvPr id="23" name="Shape 20"/>
          <p:cNvSpPr/>
          <p:nvPr/>
        </p:nvSpPr>
        <p:spPr>
          <a:xfrm>
            <a:off x="5989320" y="4352544"/>
            <a:ext cx="5138928" cy="932688"/>
          </a:xfrm>
          <a:prstGeom prst="roundRect">
            <a:avLst>
              <a:gd name="adj" fmla="val 7843"/>
            </a:avLst>
          </a:prstGeom>
          <a:solidFill>
            <a:srgbClr val="0E223C">
              <a:alpha val="97000"/>
            </a:srgbClr>
          </a:solidFill>
          <a:ln w="12700">
            <a:solidFill>
              <a:srgbClr val="21476B"/>
            </a:solidFill>
            <a:prstDash val="solid"/>
          </a:ln>
        </p:spPr>
      </p:sp>
      <p:sp>
        <p:nvSpPr>
          <p:cNvPr id="24" name="Shape 21"/>
          <p:cNvSpPr/>
          <p:nvPr/>
        </p:nvSpPr>
        <p:spPr>
          <a:xfrm>
            <a:off x="6007608" y="4398264"/>
            <a:ext cx="64008" cy="841248"/>
          </a:xfrm>
          <a:prstGeom prst="rect">
            <a:avLst/>
          </a:prstGeom>
          <a:solidFill>
            <a:srgbClr val="52D3A3"/>
          </a:solidFill>
          <a:ln w="12700">
            <a:solidFill>
              <a:srgbClr val="52D3A3"/>
            </a:solidFill>
            <a:prstDash val="solid"/>
          </a:ln>
        </p:spPr>
      </p:sp>
      <p:sp>
        <p:nvSpPr>
          <p:cNvPr id="25" name="Text 22"/>
          <p:cNvSpPr/>
          <p:nvPr/>
        </p:nvSpPr>
        <p:spPr>
          <a:xfrm>
            <a:off x="6217920" y="4517136"/>
            <a:ext cx="4773168" cy="274320"/>
          </a:xfrm>
          <a:prstGeom prst="rect">
            <a:avLst/>
          </a:prstGeom>
          <a:noFill/>
          <a:ln/>
        </p:spPr>
        <p:txBody>
          <a:bodyPr wrap="square" lIns="0" tIns="0" rIns="0" bIns="0" rtlCol="0" anchor="ctr"/>
          <a:lstStyle/>
          <a:p>
            <a:pPr marL="0" indent="0">
              <a:buNone/>
            </a:pPr>
            <a:r>
              <a:rPr lang="en-US" sz="1500" b="1" dirty="0">
                <a:solidFill>
                  <a:srgbClr val="F7FAFC"/>
                </a:solidFill>
              </a:rPr>
              <a:t>3. Train the adapters</a:t>
            </a:r>
            <a:endParaRPr lang="en-US" sz="1500" dirty="0"/>
          </a:p>
        </p:txBody>
      </p:sp>
      <p:sp>
        <p:nvSpPr>
          <p:cNvPr id="26" name="Text 23"/>
          <p:cNvSpPr/>
          <p:nvPr/>
        </p:nvSpPr>
        <p:spPr>
          <a:xfrm>
            <a:off x="6217920" y="4882896"/>
            <a:ext cx="4727448" cy="274320"/>
          </a:xfrm>
          <a:prstGeom prst="rect">
            <a:avLst/>
          </a:prstGeom>
          <a:noFill/>
          <a:ln/>
        </p:spPr>
        <p:txBody>
          <a:bodyPr wrap="square" lIns="0" tIns="0" rIns="0" bIns="0" rtlCol="0" anchor="ctr">
            <a:normAutofit/>
          </a:bodyPr>
          <a:lstStyle/>
          <a:p>
            <a:pPr marL="0" indent="0">
              <a:buNone/>
            </a:pPr>
            <a:r>
              <a:rPr lang="en-US" sz="1150" dirty="0">
                <a:solidFill>
                  <a:srgbClr val="A9BDD4"/>
                </a:solidFill>
              </a:rPr>
              <a:t>Backpropagation updates only the small LoRA parameters.</a:t>
            </a:r>
            <a:endParaRPr lang="en-US" sz="1150" dirty="0"/>
          </a:p>
        </p:txBody>
      </p:sp>
      <p:sp>
        <p:nvSpPr>
          <p:cNvPr id="27" name="Slide Number Placeholder 0"/>
          <p:cNvSpPr>
            <a:spLocks noGrp="1"/>
          </p:cNvSpPr>
          <p:nvPr>
            <p:ph type="sldNum" sz="quarter" idx="4294967295"/>
          </p:nvPr>
        </p:nvSpPr>
        <p:spPr>
          <a:xfrm>
            <a:off x="11631613" y="6510338"/>
            <a:ext cx="800100" cy="300037"/>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sp>
        <p:nvSpPr>
          <p:cNvPr id="2" name="Text 0"/>
          <p:cNvSpPr/>
          <p:nvPr/>
        </p:nvSpPr>
        <p:spPr>
          <a:xfrm>
            <a:off x="548640" y="566928"/>
            <a:ext cx="11064240" cy="502920"/>
          </a:xfrm>
          <a:prstGeom prst="rect">
            <a:avLst/>
          </a:prstGeom>
          <a:noFill/>
          <a:ln/>
        </p:spPr>
        <p:txBody>
          <a:bodyPr wrap="square" lIns="0" tIns="0" rIns="0" bIns="0" rtlCol="0" anchor="ctr"/>
          <a:lstStyle/>
          <a:p>
            <a:pPr marL="0" indent="0">
              <a:buNone/>
            </a:pPr>
            <a:r>
              <a:rPr lang="en-US" sz="2700" b="1" dirty="0">
                <a:solidFill>
                  <a:srgbClr val="F7FAFC"/>
                </a:solidFill>
              </a:rPr>
              <a:t>LoRA architecture at a glance</a:t>
            </a:r>
            <a:endParaRPr lang="en-US" sz="2700" dirty="0"/>
          </a:p>
        </p:txBody>
      </p:sp>
      <p:sp>
        <p:nvSpPr>
          <p:cNvPr id="3" name="Text 1"/>
          <p:cNvSpPr/>
          <p:nvPr/>
        </p:nvSpPr>
        <p:spPr>
          <a:xfrm>
            <a:off x="566928" y="1078992"/>
            <a:ext cx="10789920" cy="310896"/>
          </a:xfrm>
          <a:prstGeom prst="rect">
            <a:avLst/>
          </a:prstGeom>
          <a:noFill/>
          <a:ln/>
        </p:spPr>
        <p:txBody>
          <a:bodyPr wrap="square" lIns="0" tIns="0" rIns="0" bIns="0" rtlCol="0" anchor="ctr"/>
          <a:lstStyle/>
          <a:p>
            <a:pPr marL="0" indent="0">
              <a:buNone/>
            </a:pPr>
            <a:r>
              <a:rPr lang="en-US" sz="1250" dirty="0">
                <a:solidFill>
                  <a:srgbClr val="A9BDD4"/>
                </a:solidFill>
              </a:rPr>
              <a:t>Frozen backbone + trainable low-rank path.</a:t>
            </a:r>
            <a:endParaRPr lang="en-US" sz="1250" dirty="0"/>
          </a:p>
        </p:txBody>
      </p:sp>
      <p:pic>
        <p:nvPicPr>
          <p:cNvPr id="4" name="Image 0" descr="/mnt/data/d690f37694.png"/>
          <p:cNvPicPr>
            <a:picLocks noChangeAspect="1"/>
          </p:cNvPicPr>
          <p:nvPr/>
        </p:nvPicPr>
        <p:blipFill>
          <a:blip r:embed="rId3"/>
          <a:stretch>
            <a:fillRect/>
          </a:stretch>
        </p:blipFill>
        <p:spPr>
          <a:xfrm>
            <a:off x="0" y="109728"/>
            <a:ext cx="12191695" cy="6748272"/>
          </a:xfrm>
          <a:prstGeom prst="rect">
            <a:avLst/>
          </a:prstGeom>
        </p:spPr>
      </p:pic>
      <p:sp>
        <p:nvSpPr>
          <p:cNvPr id="5" name="Shape 2"/>
          <p:cNvSpPr/>
          <p:nvPr/>
        </p:nvSpPr>
        <p:spPr>
          <a:xfrm>
            <a:off x="0" y="109728"/>
            <a:ext cx="12191695" cy="6748272"/>
          </a:xfrm>
          <a:prstGeom prst="rect">
            <a:avLst/>
          </a:prstGeom>
          <a:solidFill>
            <a:srgbClr val="071426">
              <a:alpha val="88000"/>
            </a:srgbClr>
          </a:solidFill>
          <a:ln w="12700">
            <a:solidFill>
              <a:srgbClr val="071426">
                <a:alpha val="0"/>
              </a:srgbClr>
            </a:solidFill>
            <a:prstDash val="solid"/>
          </a:ln>
        </p:spPr>
      </p:sp>
      <p:sp>
        <p:nvSpPr>
          <p:cNvPr id="6" name="Shape 3"/>
          <p:cNvSpPr/>
          <p:nvPr/>
        </p:nvSpPr>
        <p:spPr>
          <a:xfrm>
            <a:off x="594360" y="5230368"/>
            <a:ext cx="10972800" cy="822960"/>
          </a:xfrm>
          <a:prstGeom prst="roundRect">
            <a:avLst/>
          </a:prstGeom>
          <a:solidFill>
            <a:srgbClr val="071426">
              <a:alpha val="92000"/>
            </a:srgbClr>
          </a:solidFill>
          <a:ln w="12700">
            <a:solidFill>
              <a:srgbClr val="20D5FF">
                <a:alpha val="60000"/>
              </a:srgbClr>
            </a:solidFill>
            <a:prstDash val="solid"/>
          </a:ln>
        </p:spPr>
      </p:sp>
      <p:sp>
        <p:nvSpPr>
          <p:cNvPr id="7" name="Text 4"/>
          <p:cNvSpPr/>
          <p:nvPr/>
        </p:nvSpPr>
        <p:spPr>
          <a:xfrm>
            <a:off x="914400" y="5468112"/>
            <a:ext cx="10332720" cy="384048"/>
          </a:xfrm>
          <a:prstGeom prst="rect">
            <a:avLst/>
          </a:prstGeom>
          <a:noFill/>
          <a:ln/>
        </p:spPr>
        <p:txBody>
          <a:bodyPr wrap="square" lIns="0" tIns="0" rIns="0" bIns="0" rtlCol="0" anchor="ctr"/>
          <a:lstStyle/>
          <a:p>
            <a:pPr marL="0" indent="0" algn="ctr">
              <a:buNone/>
            </a:pPr>
            <a:r>
              <a:rPr lang="en-US" sz="1700" b="1" dirty="0">
                <a:solidFill>
                  <a:srgbClr val="F7FAFC"/>
                </a:solidFill>
              </a:rPr>
              <a:t>Forward pass uses the original transformation plus the learned low-rank update. Only the adapter path receives parameter updates.</a:t>
            </a:r>
            <a:endParaRPr lang="en-US" sz="1700" dirty="0"/>
          </a:p>
        </p:txBody>
      </p:sp>
      <p:sp>
        <p:nvSpPr>
          <p:cNvPr id="25" name="Slide Number Placeholder 0"/>
          <p:cNvSpPr>
            <a:spLocks noGrp="1"/>
          </p:cNvSpPr>
          <p:nvPr>
            <p:ph type="sldNum" sz="quarter" idx="4294967295"/>
          </p:nvPr>
        </p:nvSpPr>
        <p:spPr>
          <a:xfrm>
            <a:off x="11631613" y="6510338"/>
            <a:ext cx="800100" cy="300037"/>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548640" y="566928"/>
            <a:ext cx="11064240" cy="502920"/>
          </a:xfrm>
          <a:prstGeom prst="rect">
            <a:avLst/>
          </a:prstGeom>
          <a:noFill/>
          <a:ln/>
        </p:spPr>
        <p:txBody>
          <a:bodyPr wrap="square" lIns="0" tIns="0" rIns="0" bIns="0" rtlCol="0" anchor="ctr"/>
          <a:lstStyle/>
          <a:p>
            <a:pPr marL="0" indent="0">
              <a:buNone/>
            </a:pPr>
            <a:r>
              <a:rPr lang="en-US" sz="2700" b="1" dirty="0">
                <a:solidFill>
                  <a:srgbClr val="F7FAFC"/>
                </a:solidFill>
              </a:rPr>
              <a:t>LoRA vs. other tuning approaches</a:t>
            </a:r>
            <a:endParaRPr lang="en-US" sz="2700" dirty="0"/>
          </a:p>
        </p:txBody>
      </p:sp>
      <p:sp>
        <p:nvSpPr>
          <p:cNvPr id="3" name="Text 1"/>
          <p:cNvSpPr/>
          <p:nvPr/>
        </p:nvSpPr>
        <p:spPr>
          <a:xfrm>
            <a:off x="566928" y="1078992"/>
            <a:ext cx="10789920" cy="310896"/>
          </a:xfrm>
          <a:prstGeom prst="rect">
            <a:avLst/>
          </a:prstGeom>
          <a:noFill/>
          <a:ln/>
        </p:spPr>
        <p:txBody>
          <a:bodyPr wrap="square" lIns="0" tIns="0" rIns="0" bIns="0" rtlCol="0" anchor="ctr"/>
          <a:lstStyle/>
          <a:p>
            <a:pPr marL="0" indent="0">
              <a:buNone/>
            </a:pPr>
            <a:r>
              <a:rPr lang="en-US" sz="1250" dirty="0">
                <a:solidFill>
                  <a:srgbClr val="A9BDD4"/>
                </a:solidFill>
              </a:rPr>
              <a:t>Efficiency depends on what is trained and what must be stored.</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508760"/>
          <a:ext cx="10058400" cy="3200400"/>
        </p:xfrm>
        <a:graphic>
          <a:graphicData uri="http://schemas.openxmlformats.org/drawingml/2006/table">
            <a:tbl>
              <a:tblPr/>
              <a:tblGrid>
                <a:gridCol w="21031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640080">
                <a:tc>
                  <a:txBody>
                    <a:bodyPr/>
                    <a:lstStyle/>
                    <a:p>
                      <a:pPr marL="0" indent="0">
                        <a:buNone/>
                      </a:pPr>
                      <a:r>
                        <a:rPr lang="en-US" sz="1400" dirty="0">
                          <a:solidFill>
                            <a:srgbClr val="F7FAFC"/>
                          </a:solidFill>
                        </a:rPr>
                        <a:t>Technique</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Trainable parameters</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Training memory</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Base preserved</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Portable task module</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extLst>
                  <a:ext uri="{0D108BD9-81ED-4DB2-BD59-A6C34878D82A}">
                    <a16:rowId xmlns:a16="http://schemas.microsoft.com/office/drawing/2014/main" val="10000"/>
                  </a:ext>
                </a:extLst>
              </a:tr>
              <a:tr h="640080">
                <a:tc>
                  <a:txBody>
                    <a:bodyPr/>
                    <a:lstStyle/>
                    <a:p>
                      <a:pPr marL="0" indent="0">
                        <a:buNone/>
                      </a:pPr>
                      <a:r>
                        <a:rPr lang="en-US" sz="1400" dirty="0">
                          <a:solidFill>
                            <a:srgbClr val="F7FAFC"/>
                          </a:solidFill>
                        </a:rPr>
                        <a:t>Full fine-tuning</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All</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Highest</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No</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No</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extLst>
                  <a:ext uri="{0D108BD9-81ED-4DB2-BD59-A6C34878D82A}">
                    <a16:rowId xmlns:a16="http://schemas.microsoft.com/office/drawing/2014/main" val="10001"/>
                  </a:ext>
                </a:extLst>
              </a:tr>
              <a:tr h="640080">
                <a:tc>
                  <a:txBody>
                    <a:bodyPr/>
                    <a:lstStyle/>
                    <a:p>
                      <a:pPr marL="0" indent="0">
                        <a:buNone/>
                      </a:pPr>
                      <a:r>
                        <a:rPr lang="en-US" sz="1400" dirty="0">
                          <a:solidFill>
                            <a:srgbClr val="F7FAFC"/>
                          </a:solidFill>
                        </a:rPr>
                        <a:t>Adapter layers</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Small subset</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Low to moderate</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Yes</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Yes</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extLst>
                  <a:ext uri="{0D108BD9-81ED-4DB2-BD59-A6C34878D82A}">
                    <a16:rowId xmlns:a16="http://schemas.microsoft.com/office/drawing/2014/main" val="10002"/>
                  </a:ext>
                </a:extLst>
              </a:tr>
              <a:tr h="640080">
                <a:tc>
                  <a:txBody>
                    <a:bodyPr/>
                    <a:lstStyle/>
                    <a:p>
                      <a:pPr marL="0" indent="0">
                        <a:buNone/>
                      </a:pPr>
                      <a:r>
                        <a:rPr lang="en-US" sz="1400" dirty="0">
                          <a:solidFill>
                            <a:srgbClr val="F7FAFC"/>
                          </a:solidFill>
                        </a:rPr>
                        <a:t>LoRA</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Small subset</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Low</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Yes</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Yes</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extLst>
                  <a:ext uri="{0D108BD9-81ED-4DB2-BD59-A6C34878D82A}">
                    <a16:rowId xmlns:a16="http://schemas.microsoft.com/office/drawing/2014/main" val="10003"/>
                  </a:ext>
                </a:extLst>
              </a:tr>
              <a:tr h="640080">
                <a:tc>
                  <a:txBody>
                    <a:bodyPr/>
                    <a:lstStyle/>
                    <a:p>
                      <a:pPr marL="0" indent="0">
                        <a:buNone/>
                      </a:pPr>
                      <a:r>
                        <a:rPr lang="en-US" sz="1400" dirty="0">
                          <a:solidFill>
                            <a:srgbClr val="F7FAFC"/>
                          </a:solidFill>
                        </a:rPr>
                        <a:t>Prefix tuning</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Very small subset</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Low</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Yes</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400" dirty="0">
                          <a:solidFill>
                            <a:srgbClr val="F7FAFC"/>
                          </a:solidFill>
                        </a:rPr>
                        <a:t>Yes</a:t>
                      </a:r>
                      <a:endParaRPr lang="en-US" sz="1400" dirty="0"/>
                    </a:p>
                  </a:txBody>
                  <a:tcPr marT="91440" marB="91440">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extLst>
                  <a:ext uri="{0D108BD9-81ED-4DB2-BD59-A6C34878D82A}">
                    <a16:rowId xmlns:a16="http://schemas.microsoft.com/office/drawing/2014/main" val="10004"/>
                  </a:ext>
                </a:extLst>
              </a:tr>
            </a:tbl>
          </a:graphicData>
        </a:graphic>
      </p:graphicFrame>
      <p:sp>
        <p:nvSpPr>
          <p:cNvPr id="5" name="Shape 2"/>
          <p:cNvSpPr/>
          <p:nvPr/>
        </p:nvSpPr>
        <p:spPr>
          <a:xfrm>
            <a:off x="685800" y="1508760"/>
            <a:ext cx="10835640" cy="658368"/>
          </a:xfrm>
          <a:prstGeom prst="rect">
            <a:avLst/>
          </a:prstGeom>
          <a:solidFill>
            <a:srgbClr val="17466E"/>
          </a:solidFill>
          <a:ln w="12700">
            <a:solidFill>
              <a:srgbClr val="20D5FF"/>
            </a:solidFill>
            <a:prstDash val="solid"/>
          </a:ln>
        </p:spPr>
      </p:sp>
      <p:sp>
        <p:nvSpPr>
          <p:cNvPr id="6" name="Text 3"/>
          <p:cNvSpPr/>
          <p:nvPr/>
        </p:nvSpPr>
        <p:spPr>
          <a:xfrm>
            <a:off x="960120" y="5897880"/>
            <a:ext cx="10241280" cy="320040"/>
          </a:xfrm>
          <a:prstGeom prst="rect">
            <a:avLst/>
          </a:prstGeom>
          <a:noFill/>
          <a:ln/>
        </p:spPr>
        <p:txBody>
          <a:bodyPr wrap="square" lIns="0" tIns="0" rIns="0" bIns="0" rtlCol="0" anchor="ctr"/>
          <a:lstStyle/>
          <a:p>
            <a:pPr marL="0" indent="0" algn="ctr">
              <a:buNone/>
            </a:pPr>
            <a:r>
              <a:rPr lang="en-US" sz="1200" dirty="0">
                <a:solidFill>
                  <a:srgbClr val="F6C85F"/>
                </a:solidFill>
              </a:rPr>
              <a:t>Note: parameter efficiency is low for full fine-tuning and high for PEFT methods.</a:t>
            </a:r>
            <a:endParaRPr lang="en-US" sz="1200" dirty="0"/>
          </a:p>
        </p:txBody>
      </p:sp>
      <p:sp>
        <p:nvSpPr>
          <p:cNvPr id="25" name="Slide Number Placeholder 0"/>
          <p:cNvSpPr>
            <a:spLocks noGrp="1"/>
          </p:cNvSpPr>
          <p:nvPr>
            <p:ph type="sldNum" sz="quarter" idx="4294967295"/>
          </p:nvPr>
        </p:nvSpPr>
        <p:spPr>
          <a:xfrm>
            <a:off x="11631613" y="6510338"/>
            <a:ext cx="800100" cy="300037"/>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sp>
        <p:nvSpPr>
          <p:cNvPr id="2" name="Text 0"/>
          <p:cNvSpPr/>
          <p:nvPr/>
        </p:nvSpPr>
        <p:spPr>
          <a:xfrm>
            <a:off x="548640" y="566928"/>
            <a:ext cx="11064240" cy="502920"/>
          </a:xfrm>
          <a:prstGeom prst="rect">
            <a:avLst/>
          </a:prstGeom>
          <a:noFill/>
          <a:ln/>
        </p:spPr>
        <p:txBody>
          <a:bodyPr wrap="square" lIns="0" tIns="0" rIns="0" bIns="0" rtlCol="0" anchor="ctr"/>
          <a:lstStyle/>
          <a:p>
            <a:pPr marL="0" indent="0">
              <a:buNone/>
            </a:pPr>
            <a:r>
              <a:rPr lang="en-US" sz="2700" b="1" dirty="0">
                <a:solidFill>
                  <a:srgbClr val="F7FAFC"/>
                </a:solidFill>
              </a:rPr>
              <a:t>QLoRA: quantized LoRA</a:t>
            </a:r>
            <a:endParaRPr lang="en-US" sz="2700" dirty="0"/>
          </a:p>
        </p:txBody>
      </p:sp>
      <p:sp>
        <p:nvSpPr>
          <p:cNvPr id="3" name="Text 1"/>
          <p:cNvSpPr/>
          <p:nvPr/>
        </p:nvSpPr>
        <p:spPr>
          <a:xfrm>
            <a:off x="566928" y="1078992"/>
            <a:ext cx="10789920" cy="310896"/>
          </a:xfrm>
          <a:prstGeom prst="rect">
            <a:avLst/>
          </a:prstGeom>
          <a:noFill/>
          <a:ln/>
        </p:spPr>
        <p:txBody>
          <a:bodyPr wrap="square" lIns="0" tIns="0" rIns="0" bIns="0" rtlCol="0" anchor="ctr"/>
          <a:lstStyle/>
          <a:p>
            <a:pPr marL="0" indent="0">
              <a:buNone/>
            </a:pPr>
            <a:r>
              <a:rPr lang="en-US" sz="1250" dirty="0">
                <a:solidFill>
                  <a:srgbClr val="A9BDD4"/>
                </a:solidFill>
              </a:rPr>
              <a:t>QLoRA stores the frozen base model in 4-bit form while training LoRA adapters.</a:t>
            </a:r>
            <a:endParaRPr lang="en-US" sz="1250" dirty="0"/>
          </a:p>
        </p:txBody>
      </p:sp>
      <p:pic>
        <p:nvPicPr>
          <p:cNvPr id="4" name="Image 0" descr="/mnt/data/5629fe0b2e.png"/>
          <p:cNvPicPr>
            <a:picLocks noChangeAspect="1"/>
          </p:cNvPicPr>
          <p:nvPr/>
        </p:nvPicPr>
        <p:blipFill>
          <a:blip r:embed="rId3"/>
          <a:stretch>
            <a:fillRect/>
          </a:stretch>
        </p:blipFill>
        <p:spPr>
          <a:xfrm>
            <a:off x="502920" y="1463040"/>
            <a:ext cx="11155680" cy="4800600"/>
          </a:xfrm>
          <a:prstGeom prst="rect">
            <a:avLst/>
          </a:prstGeom>
        </p:spPr>
      </p:pic>
      <p:sp>
        <p:nvSpPr>
          <p:cNvPr id="5" name="Shape 2"/>
          <p:cNvSpPr/>
          <p:nvPr/>
        </p:nvSpPr>
        <p:spPr>
          <a:xfrm>
            <a:off x="502920" y="1463040"/>
            <a:ext cx="11155680" cy="4800600"/>
          </a:xfrm>
          <a:prstGeom prst="rect">
            <a:avLst/>
          </a:prstGeom>
          <a:solidFill>
            <a:srgbClr val="071426">
              <a:alpha val="48000"/>
            </a:srgbClr>
          </a:solidFill>
          <a:ln w="12700">
            <a:solidFill>
              <a:srgbClr val="071426">
                <a:alpha val="0"/>
              </a:srgbClr>
            </a:solidFill>
            <a:prstDash val="solid"/>
          </a:ln>
        </p:spPr>
      </p:sp>
      <p:sp>
        <p:nvSpPr>
          <p:cNvPr id="6" name="Shape 3"/>
          <p:cNvSpPr/>
          <p:nvPr/>
        </p:nvSpPr>
        <p:spPr>
          <a:xfrm>
            <a:off x="786384" y="1828800"/>
            <a:ext cx="3246120" cy="3429000"/>
          </a:xfrm>
          <a:prstGeom prst="roundRect">
            <a:avLst>
              <a:gd name="adj" fmla="val 2254"/>
            </a:avLst>
          </a:prstGeom>
          <a:solidFill>
            <a:srgbClr val="0E223C">
              <a:alpha val="97000"/>
            </a:srgbClr>
          </a:solidFill>
          <a:ln w="12700">
            <a:solidFill>
              <a:srgbClr val="21476B"/>
            </a:solidFill>
            <a:prstDash val="solid"/>
          </a:ln>
        </p:spPr>
      </p:sp>
      <p:sp>
        <p:nvSpPr>
          <p:cNvPr id="7" name="Shape 4"/>
          <p:cNvSpPr/>
          <p:nvPr/>
        </p:nvSpPr>
        <p:spPr>
          <a:xfrm>
            <a:off x="804672" y="1874520"/>
            <a:ext cx="64008" cy="3337560"/>
          </a:xfrm>
          <a:prstGeom prst="rect">
            <a:avLst/>
          </a:prstGeom>
          <a:solidFill>
            <a:srgbClr val="20D5FF"/>
          </a:solidFill>
          <a:ln w="12700">
            <a:solidFill>
              <a:srgbClr val="20D5FF"/>
            </a:solidFill>
            <a:prstDash val="solid"/>
          </a:ln>
        </p:spPr>
      </p:sp>
      <p:sp>
        <p:nvSpPr>
          <p:cNvPr id="8" name="Text 5"/>
          <p:cNvSpPr/>
          <p:nvPr/>
        </p:nvSpPr>
        <p:spPr>
          <a:xfrm>
            <a:off x="1014984" y="1993392"/>
            <a:ext cx="2880360" cy="274320"/>
          </a:xfrm>
          <a:prstGeom prst="rect">
            <a:avLst/>
          </a:prstGeom>
          <a:noFill/>
          <a:ln/>
        </p:spPr>
        <p:txBody>
          <a:bodyPr wrap="square" lIns="0" tIns="0" rIns="0" bIns="0" rtlCol="0" anchor="ctr"/>
          <a:lstStyle/>
          <a:p>
            <a:pPr marL="0" indent="0">
              <a:buNone/>
            </a:pPr>
            <a:r>
              <a:rPr lang="en-US" sz="1500" b="1" dirty="0">
                <a:solidFill>
                  <a:srgbClr val="F7FAFC"/>
                </a:solidFill>
              </a:rPr>
              <a:t>4-bit NF4 base</a:t>
            </a:r>
            <a:endParaRPr lang="en-US" sz="1500" dirty="0"/>
          </a:p>
        </p:txBody>
      </p:sp>
      <p:sp>
        <p:nvSpPr>
          <p:cNvPr id="9" name="Text 6"/>
          <p:cNvSpPr/>
          <p:nvPr/>
        </p:nvSpPr>
        <p:spPr>
          <a:xfrm>
            <a:off x="1014984" y="2359152"/>
            <a:ext cx="2834640" cy="2770632"/>
          </a:xfrm>
          <a:prstGeom prst="rect">
            <a:avLst/>
          </a:prstGeom>
          <a:noFill/>
          <a:ln/>
        </p:spPr>
        <p:txBody>
          <a:bodyPr wrap="square" lIns="0" tIns="0" rIns="0" bIns="0" rtlCol="0" anchor="ctr">
            <a:normAutofit/>
          </a:bodyPr>
          <a:lstStyle/>
          <a:p>
            <a:pPr marL="0" indent="0">
              <a:buNone/>
            </a:pPr>
            <a:r>
              <a:rPr lang="en-US" sz="1150" dirty="0">
                <a:solidFill>
                  <a:srgbClr val="A9BDD4"/>
                </a:solidFill>
              </a:rPr>
              <a:t>The frozen model is quantized to reduce memory usage. Weights are dequantized for computation as needed.</a:t>
            </a:r>
            <a:endParaRPr lang="en-US" sz="1150" dirty="0"/>
          </a:p>
        </p:txBody>
      </p:sp>
      <p:sp>
        <p:nvSpPr>
          <p:cNvPr id="10" name="Shape 7"/>
          <p:cNvSpPr/>
          <p:nvPr/>
        </p:nvSpPr>
        <p:spPr>
          <a:xfrm>
            <a:off x="4462272" y="1828800"/>
            <a:ext cx="3246120" cy="3429000"/>
          </a:xfrm>
          <a:prstGeom prst="roundRect">
            <a:avLst>
              <a:gd name="adj" fmla="val 2254"/>
            </a:avLst>
          </a:prstGeom>
          <a:solidFill>
            <a:srgbClr val="0E223C">
              <a:alpha val="97000"/>
            </a:srgbClr>
          </a:solidFill>
          <a:ln w="12700">
            <a:solidFill>
              <a:srgbClr val="21476B"/>
            </a:solidFill>
            <a:prstDash val="solid"/>
          </a:ln>
        </p:spPr>
      </p:sp>
      <p:sp>
        <p:nvSpPr>
          <p:cNvPr id="11" name="Shape 8"/>
          <p:cNvSpPr/>
          <p:nvPr/>
        </p:nvSpPr>
        <p:spPr>
          <a:xfrm>
            <a:off x="4480560" y="1874520"/>
            <a:ext cx="64008" cy="3337560"/>
          </a:xfrm>
          <a:prstGeom prst="rect">
            <a:avLst/>
          </a:prstGeom>
          <a:solidFill>
            <a:srgbClr val="A855F7"/>
          </a:solidFill>
          <a:ln w="12700">
            <a:solidFill>
              <a:srgbClr val="A855F7"/>
            </a:solidFill>
            <a:prstDash val="solid"/>
          </a:ln>
        </p:spPr>
      </p:sp>
      <p:sp>
        <p:nvSpPr>
          <p:cNvPr id="12" name="Text 9"/>
          <p:cNvSpPr/>
          <p:nvPr/>
        </p:nvSpPr>
        <p:spPr>
          <a:xfrm>
            <a:off x="4690872" y="1993392"/>
            <a:ext cx="2880360" cy="274320"/>
          </a:xfrm>
          <a:prstGeom prst="rect">
            <a:avLst/>
          </a:prstGeom>
          <a:noFill/>
          <a:ln/>
        </p:spPr>
        <p:txBody>
          <a:bodyPr wrap="square" lIns="0" tIns="0" rIns="0" bIns="0" rtlCol="0" anchor="ctr"/>
          <a:lstStyle/>
          <a:p>
            <a:pPr marL="0" indent="0">
              <a:buNone/>
            </a:pPr>
            <a:r>
              <a:rPr lang="en-US" sz="1500" b="1" dirty="0">
                <a:solidFill>
                  <a:srgbClr val="F7FAFC"/>
                </a:solidFill>
              </a:rPr>
              <a:t>LoRA adapters</a:t>
            </a:r>
            <a:endParaRPr lang="en-US" sz="1500" dirty="0"/>
          </a:p>
        </p:txBody>
      </p:sp>
      <p:sp>
        <p:nvSpPr>
          <p:cNvPr id="13" name="Text 10"/>
          <p:cNvSpPr/>
          <p:nvPr/>
        </p:nvSpPr>
        <p:spPr>
          <a:xfrm>
            <a:off x="4690872" y="2359152"/>
            <a:ext cx="2834640" cy="2770632"/>
          </a:xfrm>
          <a:prstGeom prst="rect">
            <a:avLst/>
          </a:prstGeom>
          <a:noFill/>
          <a:ln/>
        </p:spPr>
        <p:txBody>
          <a:bodyPr wrap="square" lIns="0" tIns="0" rIns="0" bIns="0" rtlCol="0" anchor="ctr">
            <a:normAutofit/>
          </a:bodyPr>
          <a:lstStyle/>
          <a:p>
            <a:pPr marL="0" indent="0">
              <a:buNone/>
            </a:pPr>
            <a:r>
              <a:rPr lang="en-US" sz="1150" dirty="0">
                <a:solidFill>
                  <a:srgbClr val="A9BDD4"/>
                </a:solidFill>
              </a:rPr>
              <a:t>Small trainable matrices capture task-specific updates while the quantized base remains frozen.</a:t>
            </a:r>
            <a:endParaRPr lang="en-US" sz="1150" dirty="0"/>
          </a:p>
        </p:txBody>
      </p:sp>
      <p:sp>
        <p:nvSpPr>
          <p:cNvPr id="14" name="Shape 11"/>
          <p:cNvSpPr/>
          <p:nvPr/>
        </p:nvSpPr>
        <p:spPr>
          <a:xfrm>
            <a:off x="8138160" y="1828800"/>
            <a:ext cx="3246120" cy="3429000"/>
          </a:xfrm>
          <a:prstGeom prst="roundRect">
            <a:avLst>
              <a:gd name="adj" fmla="val 2254"/>
            </a:avLst>
          </a:prstGeom>
          <a:solidFill>
            <a:srgbClr val="0E223C">
              <a:alpha val="97000"/>
            </a:srgbClr>
          </a:solidFill>
          <a:ln w="12700">
            <a:solidFill>
              <a:srgbClr val="21476B"/>
            </a:solidFill>
            <a:prstDash val="solid"/>
          </a:ln>
        </p:spPr>
      </p:sp>
      <p:sp>
        <p:nvSpPr>
          <p:cNvPr id="15" name="Shape 12"/>
          <p:cNvSpPr/>
          <p:nvPr/>
        </p:nvSpPr>
        <p:spPr>
          <a:xfrm>
            <a:off x="8156448" y="1874520"/>
            <a:ext cx="64008" cy="3337560"/>
          </a:xfrm>
          <a:prstGeom prst="rect">
            <a:avLst/>
          </a:prstGeom>
          <a:solidFill>
            <a:srgbClr val="52D3A3"/>
          </a:solidFill>
          <a:ln w="12700">
            <a:solidFill>
              <a:srgbClr val="52D3A3"/>
            </a:solidFill>
            <a:prstDash val="solid"/>
          </a:ln>
        </p:spPr>
      </p:sp>
      <p:sp>
        <p:nvSpPr>
          <p:cNvPr id="16" name="Text 13"/>
          <p:cNvSpPr/>
          <p:nvPr/>
        </p:nvSpPr>
        <p:spPr>
          <a:xfrm>
            <a:off x="8366760" y="1993392"/>
            <a:ext cx="2880360" cy="274320"/>
          </a:xfrm>
          <a:prstGeom prst="rect">
            <a:avLst/>
          </a:prstGeom>
          <a:noFill/>
          <a:ln/>
        </p:spPr>
        <p:txBody>
          <a:bodyPr wrap="square" lIns="0" tIns="0" rIns="0" bIns="0" rtlCol="0" anchor="ctr"/>
          <a:lstStyle/>
          <a:p>
            <a:pPr marL="0" indent="0">
              <a:buNone/>
            </a:pPr>
            <a:r>
              <a:rPr lang="en-US" sz="1500" b="1" dirty="0">
                <a:solidFill>
                  <a:srgbClr val="F7FAFC"/>
                </a:solidFill>
              </a:rPr>
              <a:t>Memory optimizations</a:t>
            </a:r>
            <a:endParaRPr lang="en-US" sz="1500" dirty="0"/>
          </a:p>
        </p:txBody>
      </p:sp>
      <p:sp>
        <p:nvSpPr>
          <p:cNvPr id="17" name="Text 14"/>
          <p:cNvSpPr/>
          <p:nvPr/>
        </p:nvSpPr>
        <p:spPr>
          <a:xfrm>
            <a:off x="8366760" y="2359152"/>
            <a:ext cx="2834640" cy="2770632"/>
          </a:xfrm>
          <a:prstGeom prst="rect">
            <a:avLst/>
          </a:prstGeom>
          <a:noFill/>
          <a:ln/>
        </p:spPr>
        <p:txBody>
          <a:bodyPr wrap="square" lIns="0" tIns="0" rIns="0" bIns="0" rtlCol="0" anchor="ctr">
            <a:normAutofit/>
          </a:bodyPr>
          <a:lstStyle/>
          <a:p>
            <a:pPr marL="0" indent="0">
              <a:buNone/>
            </a:pPr>
            <a:r>
              <a:rPr lang="en-US" sz="1150" dirty="0">
                <a:solidFill>
                  <a:srgbClr val="A9BDD4"/>
                </a:solidFill>
              </a:rPr>
              <a:t>Double quantization compresses quantization constants. Paged optimizers help manage memory spikes.</a:t>
            </a:r>
            <a:endParaRPr lang="en-US" sz="1150" dirty="0"/>
          </a:p>
        </p:txBody>
      </p:sp>
      <p:sp>
        <p:nvSpPr>
          <p:cNvPr id="25" name="Slide Number Placeholder 0"/>
          <p:cNvSpPr>
            <a:spLocks noGrp="1"/>
          </p:cNvSpPr>
          <p:nvPr>
            <p:ph type="sldNum" sz="quarter" idx="4294967295"/>
          </p:nvPr>
        </p:nvSpPr>
        <p:spPr>
          <a:xfrm>
            <a:off x="11631613" y="6510338"/>
            <a:ext cx="800100" cy="300037"/>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sp>
        <p:nvSpPr>
          <p:cNvPr id="2" name="Text 0"/>
          <p:cNvSpPr/>
          <p:nvPr/>
        </p:nvSpPr>
        <p:spPr>
          <a:xfrm>
            <a:off x="548640" y="566928"/>
            <a:ext cx="11064240" cy="502920"/>
          </a:xfrm>
          <a:prstGeom prst="rect">
            <a:avLst/>
          </a:prstGeom>
          <a:noFill/>
          <a:ln/>
        </p:spPr>
        <p:txBody>
          <a:bodyPr wrap="square" lIns="0" tIns="0" rIns="0" bIns="0" rtlCol="0" anchor="ctr"/>
          <a:lstStyle/>
          <a:p>
            <a:pPr marL="0" indent="0">
              <a:buNone/>
            </a:pPr>
            <a:r>
              <a:rPr lang="en-US" sz="2700" b="1" dirty="0">
                <a:solidFill>
                  <a:srgbClr val="F7FAFC"/>
                </a:solidFill>
              </a:rPr>
              <a:t>Direct comparison: LoRA vs. QLoRA</a:t>
            </a:r>
            <a:endParaRPr lang="en-US" sz="2700" dirty="0"/>
          </a:p>
        </p:txBody>
      </p:sp>
      <p:sp>
        <p:nvSpPr>
          <p:cNvPr id="3" name="Text 1"/>
          <p:cNvSpPr/>
          <p:nvPr/>
        </p:nvSpPr>
        <p:spPr>
          <a:xfrm>
            <a:off x="566928" y="1078992"/>
            <a:ext cx="10789920" cy="310896"/>
          </a:xfrm>
          <a:prstGeom prst="rect">
            <a:avLst/>
          </a:prstGeom>
          <a:noFill/>
          <a:ln/>
        </p:spPr>
        <p:txBody>
          <a:bodyPr wrap="square" lIns="0" tIns="0" rIns="0" bIns="0" rtlCol="0" anchor="ctr"/>
          <a:lstStyle/>
          <a:p>
            <a:pPr marL="0" indent="0">
              <a:buNone/>
            </a:pPr>
            <a:r>
              <a:rPr lang="en-US" sz="1250" dirty="0">
                <a:solidFill>
                  <a:srgbClr val="A9BDD4"/>
                </a:solidFill>
              </a:rPr>
              <a:t>The main difference is how the frozen base model is stored.</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8368" y="1417320"/>
          <a:ext cx="10881360" cy="3968496"/>
        </p:xfrm>
        <a:graphic>
          <a:graphicData uri="http://schemas.openxmlformats.org/drawingml/2006/table">
            <a:tbl>
              <a:tblPr/>
              <a:tblGrid>
                <a:gridCol w="233172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566928">
                <a:tc>
                  <a:txBody>
                    <a:bodyPr/>
                    <a:lstStyle/>
                    <a:p>
                      <a:pPr marL="0" indent="0">
                        <a:buNone/>
                      </a:pPr>
                      <a:r>
                        <a:rPr lang="en-US" sz="1320" dirty="0">
                          <a:solidFill>
                            <a:srgbClr val="F7FAFC"/>
                          </a:solidFill>
                        </a:rPr>
                        <a:t>Feature</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320" dirty="0">
                          <a:solidFill>
                            <a:srgbClr val="F7FAFC"/>
                          </a:solidFill>
                        </a:rPr>
                        <a:t>LoRA</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320" dirty="0">
                          <a:solidFill>
                            <a:srgbClr val="F7FAFC"/>
                          </a:solidFill>
                        </a:rPr>
                        <a:t>QLoRA</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extLst>
                  <a:ext uri="{0D108BD9-81ED-4DB2-BD59-A6C34878D82A}">
                    <a16:rowId xmlns:a16="http://schemas.microsoft.com/office/drawing/2014/main" val="10000"/>
                  </a:ext>
                </a:extLst>
              </a:tr>
              <a:tr h="566928">
                <a:tc>
                  <a:txBody>
                    <a:bodyPr/>
                    <a:lstStyle/>
                    <a:p>
                      <a:pPr marL="0" indent="0">
                        <a:buNone/>
                      </a:pPr>
                      <a:r>
                        <a:rPr lang="en-US" sz="1320" dirty="0">
                          <a:solidFill>
                            <a:srgbClr val="F7FAFC"/>
                          </a:solidFill>
                        </a:rPr>
                        <a:t>Frozen base precision</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320" dirty="0">
                          <a:solidFill>
                            <a:srgbClr val="F7FAFC"/>
                          </a:solidFill>
                        </a:rPr>
                        <a:t>Commonly FP16/BF16 or 8-bit</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320" dirty="0">
                          <a:solidFill>
                            <a:srgbClr val="F7FAFC"/>
                          </a:solidFill>
                        </a:rPr>
                        <a:t>4-bit quantized, typically NF4</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extLst>
                  <a:ext uri="{0D108BD9-81ED-4DB2-BD59-A6C34878D82A}">
                    <a16:rowId xmlns:a16="http://schemas.microsoft.com/office/drawing/2014/main" val="10001"/>
                  </a:ext>
                </a:extLst>
              </a:tr>
              <a:tr h="566928">
                <a:tc>
                  <a:txBody>
                    <a:bodyPr/>
                    <a:lstStyle/>
                    <a:p>
                      <a:pPr marL="0" indent="0">
                        <a:buNone/>
                      </a:pPr>
                      <a:r>
                        <a:rPr lang="en-US" sz="1320" dirty="0">
                          <a:solidFill>
                            <a:srgbClr val="F7FAFC"/>
                          </a:solidFill>
                        </a:rPr>
                        <a:t>Trainable components</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320" dirty="0">
                          <a:solidFill>
                            <a:srgbClr val="F7FAFC"/>
                          </a:solidFill>
                        </a:rPr>
                        <a:t>LoRA adapters</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320" dirty="0">
                          <a:solidFill>
                            <a:srgbClr val="F7FAFC"/>
                          </a:solidFill>
                        </a:rPr>
                        <a:t>LoRA adapters</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extLst>
                  <a:ext uri="{0D108BD9-81ED-4DB2-BD59-A6C34878D82A}">
                    <a16:rowId xmlns:a16="http://schemas.microsoft.com/office/drawing/2014/main" val="10002"/>
                  </a:ext>
                </a:extLst>
              </a:tr>
              <a:tr h="566928">
                <a:tc>
                  <a:txBody>
                    <a:bodyPr/>
                    <a:lstStyle/>
                    <a:p>
                      <a:pPr marL="0" indent="0">
                        <a:buNone/>
                      </a:pPr>
                      <a:r>
                        <a:rPr lang="en-US" sz="1320" dirty="0">
                          <a:solidFill>
                            <a:srgbClr val="F7FAFC"/>
                          </a:solidFill>
                        </a:rPr>
                        <a:t>Memory requirement</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320" dirty="0">
                          <a:solidFill>
                            <a:srgbClr val="F7FAFC"/>
                          </a:solidFill>
                        </a:rPr>
                        <a:t>Lower than full fine-tuning</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320" dirty="0">
                          <a:solidFill>
                            <a:srgbClr val="F7FAFC"/>
                          </a:solidFill>
                        </a:rPr>
                        <a:t>Lower than standard LoRA</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extLst>
                  <a:ext uri="{0D108BD9-81ED-4DB2-BD59-A6C34878D82A}">
                    <a16:rowId xmlns:a16="http://schemas.microsoft.com/office/drawing/2014/main" val="10003"/>
                  </a:ext>
                </a:extLst>
              </a:tr>
              <a:tr h="566928">
                <a:tc>
                  <a:txBody>
                    <a:bodyPr/>
                    <a:lstStyle/>
                    <a:p>
                      <a:pPr marL="0" indent="0">
                        <a:buNone/>
                      </a:pPr>
                      <a:r>
                        <a:rPr lang="en-US" sz="1320" dirty="0">
                          <a:solidFill>
                            <a:srgbClr val="F7FAFC"/>
                          </a:solidFill>
                        </a:rPr>
                        <a:t>Compute trade-off</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320" dirty="0">
                          <a:solidFill>
                            <a:srgbClr val="F7FAFC"/>
                          </a:solidFill>
                        </a:rPr>
                        <a:t>No 4-bit dequantization path</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320" dirty="0">
                          <a:solidFill>
                            <a:srgbClr val="F7FAFC"/>
                          </a:solidFill>
                        </a:rPr>
                        <a:t>Extra quantize/dequantize overhead</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extLst>
                  <a:ext uri="{0D108BD9-81ED-4DB2-BD59-A6C34878D82A}">
                    <a16:rowId xmlns:a16="http://schemas.microsoft.com/office/drawing/2014/main" val="10004"/>
                  </a:ext>
                </a:extLst>
              </a:tr>
              <a:tr h="566928">
                <a:tc>
                  <a:txBody>
                    <a:bodyPr/>
                    <a:lstStyle/>
                    <a:p>
                      <a:pPr marL="0" indent="0">
                        <a:buNone/>
                      </a:pPr>
                      <a:r>
                        <a:rPr lang="en-US" sz="1320" dirty="0">
                          <a:solidFill>
                            <a:srgbClr val="F7FAFC"/>
                          </a:solidFill>
                        </a:rPr>
                        <a:t>Best use</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320" dirty="0">
                          <a:solidFill>
                            <a:srgbClr val="F7FAFC"/>
                          </a:solidFill>
                        </a:rPr>
                        <a:t>Enough memory for base model</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320" dirty="0">
                          <a:solidFill>
                            <a:srgbClr val="F7FAFC"/>
                          </a:solidFill>
                        </a:rPr>
                        <a:t>Memory-constrained fine-tuning</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extLst>
                  <a:ext uri="{0D108BD9-81ED-4DB2-BD59-A6C34878D82A}">
                    <a16:rowId xmlns:a16="http://schemas.microsoft.com/office/drawing/2014/main" val="10005"/>
                  </a:ext>
                </a:extLst>
              </a:tr>
              <a:tr h="566928">
                <a:tc>
                  <a:txBody>
                    <a:bodyPr/>
                    <a:lstStyle/>
                    <a:p>
                      <a:pPr marL="0" indent="0">
                        <a:buNone/>
                      </a:pPr>
                      <a:r>
                        <a:rPr lang="en-US" sz="1320" dirty="0">
                          <a:solidFill>
                            <a:srgbClr val="F7FAFC"/>
                          </a:solidFill>
                        </a:rPr>
                        <a:t>Quality</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320" dirty="0">
                          <a:solidFill>
                            <a:srgbClr val="F7FAFC"/>
                          </a:solidFill>
                        </a:rPr>
                        <a:t>Strong with good data and setup</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tc>
                  <a:txBody>
                    <a:bodyPr/>
                    <a:lstStyle/>
                    <a:p>
                      <a:pPr marL="0" indent="0">
                        <a:buNone/>
                      </a:pPr>
                      <a:r>
                        <a:rPr lang="en-US" sz="1320" dirty="0">
                          <a:solidFill>
                            <a:srgbClr val="F7FAFC"/>
                          </a:solidFill>
                        </a:rPr>
                        <a:t>Can approach 16-bit fine-tuning in studied settings</a:t>
                      </a:r>
                      <a:endParaRPr lang="en-US" sz="1320" dirty="0"/>
                    </a:p>
                  </a:txBody>
                  <a:tcPr marL="82296" marR="82296" marT="82296" marB="82296">
                    <a:lnL w="12700" cap="flat" cmpd="sng" algn="ctr">
                      <a:solidFill>
                        <a:srgbClr val="355779"/>
                      </a:solidFill>
                      <a:prstDash val="solid"/>
                      <a:round/>
                      <a:headEnd type="none" w="med" len="med"/>
                      <a:tailEnd type="none" w="med" len="med"/>
                    </a:lnL>
                    <a:lnR w="12700" cap="flat" cmpd="sng" algn="ctr">
                      <a:solidFill>
                        <a:srgbClr val="355779"/>
                      </a:solidFill>
                      <a:prstDash val="solid"/>
                      <a:round/>
                      <a:headEnd type="none" w="med" len="med"/>
                      <a:tailEnd type="none" w="med" len="med"/>
                    </a:lnR>
                    <a:lnT w="12700" cap="flat" cmpd="sng" algn="ctr">
                      <a:solidFill>
                        <a:srgbClr val="355779"/>
                      </a:solidFill>
                      <a:prstDash val="solid"/>
                      <a:round/>
                      <a:headEnd type="none" w="med" len="med"/>
                      <a:tailEnd type="none" w="med" len="med"/>
                    </a:lnT>
                    <a:lnB w="12700" cap="flat" cmpd="sng" algn="ctr">
                      <a:solidFill>
                        <a:srgbClr val="355779"/>
                      </a:solidFill>
                      <a:prstDash val="solid"/>
                      <a:round/>
                      <a:headEnd type="none" w="med" len="med"/>
                      <a:tailEnd type="none" w="med" len="med"/>
                    </a:lnB>
                    <a:solidFill>
                      <a:srgbClr val="0E223C"/>
                    </a:solidFill>
                  </a:tcPr>
                </a:tc>
                <a:extLst>
                  <a:ext uri="{0D108BD9-81ED-4DB2-BD59-A6C34878D82A}">
                    <a16:rowId xmlns:a16="http://schemas.microsoft.com/office/drawing/2014/main" val="10006"/>
                  </a:ext>
                </a:extLst>
              </a:tr>
            </a:tbl>
          </a:graphicData>
        </a:graphic>
      </p:graphicFrame>
      <p:sp>
        <p:nvSpPr>
          <p:cNvPr id="5" name="Shape 2"/>
          <p:cNvSpPr/>
          <p:nvPr/>
        </p:nvSpPr>
        <p:spPr>
          <a:xfrm>
            <a:off x="658368" y="1417320"/>
            <a:ext cx="10881360" cy="594360"/>
          </a:xfrm>
          <a:prstGeom prst="rect">
            <a:avLst/>
          </a:prstGeom>
          <a:solidFill>
            <a:srgbClr val="17466E"/>
          </a:solidFill>
          <a:ln w="12700">
            <a:solidFill>
              <a:srgbClr val="20D5FF"/>
            </a:solidFill>
            <a:prstDash val="solid"/>
          </a:ln>
        </p:spPr>
      </p:sp>
      <p:sp>
        <p:nvSpPr>
          <p:cNvPr id="25" name="Slide Number Placeholder 0"/>
          <p:cNvSpPr>
            <a:spLocks noGrp="1"/>
          </p:cNvSpPr>
          <p:nvPr>
            <p:ph type="sldNum" sz="quarter" idx="4294967295"/>
          </p:nvPr>
        </p:nvSpPr>
        <p:spPr>
          <a:xfrm>
            <a:off x="11631613" y="6510338"/>
            <a:ext cx="800100" cy="300037"/>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1" cy="1"/>
          <a:chOff x="0" y="0"/>
          <a:chExt cx="1" cy="1"/>
        </a:xfrm>
      </p:grpSpPr>
      <p:sp>
        <p:nvSpPr>
          <p:cNvPr id="2" name="Text 0"/>
          <p:cNvSpPr/>
          <p:nvPr/>
        </p:nvSpPr>
        <p:spPr>
          <a:xfrm>
            <a:off x="548640" y="566928"/>
            <a:ext cx="11064240" cy="502920"/>
          </a:xfrm>
          <a:prstGeom prst="rect">
            <a:avLst/>
          </a:prstGeom>
          <a:noFill/>
          <a:ln/>
        </p:spPr>
        <p:txBody>
          <a:bodyPr wrap="square" lIns="0" tIns="0" rIns="0" bIns="0" rtlCol="0" anchor="ctr"/>
          <a:lstStyle/>
          <a:p>
            <a:pPr marL="0" indent="0">
              <a:buNone/>
            </a:pPr>
            <a:r>
              <a:rPr lang="en-US" sz="2700" b="1" dirty="0">
                <a:solidFill>
                  <a:srgbClr val="F7FAFC"/>
                </a:solidFill>
              </a:rPr>
              <a:t>Why QLoRA changed experimentation</a:t>
            </a:r>
            <a:endParaRPr lang="en-US" sz="2700" dirty="0"/>
          </a:p>
        </p:txBody>
      </p:sp>
      <p:sp>
        <p:nvSpPr>
          <p:cNvPr id="3" name="Text 1"/>
          <p:cNvSpPr/>
          <p:nvPr/>
        </p:nvSpPr>
        <p:spPr>
          <a:xfrm>
            <a:off x="566928" y="1078992"/>
            <a:ext cx="10789920" cy="310896"/>
          </a:xfrm>
          <a:prstGeom prst="rect">
            <a:avLst/>
          </a:prstGeom>
          <a:noFill/>
          <a:ln/>
        </p:spPr>
        <p:txBody>
          <a:bodyPr wrap="square" lIns="0" tIns="0" rIns="0" bIns="0" rtlCol="0" anchor="ctr"/>
          <a:lstStyle/>
          <a:p>
            <a:pPr marL="0" indent="0">
              <a:buNone/>
            </a:pPr>
            <a:r>
              <a:rPr lang="en-US" sz="1250" dirty="0">
                <a:solidFill>
                  <a:srgbClr val="A9BDD4"/>
                </a:solidFill>
              </a:rPr>
              <a:t>It makes many large-model adaptation projects feasible with substantially less memory.</a:t>
            </a:r>
            <a:endParaRPr lang="en-US" sz="1250" dirty="0"/>
          </a:p>
        </p:txBody>
      </p:sp>
      <p:sp>
        <p:nvSpPr>
          <p:cNvPr id="4" name="Shape 2"/>
          <p:cNvSpPr/>
          <p:nvPr/>
        </p:nvSpPr>
        <p:spPr>
          <a:xfrm>
            <a:off x="685800" y="1600200"/>
            <a:ext cx="3429000" cy="3566160"/>
          </a:xfrm>
          <a:prstGeom prst="roundRect">
            <a:avLst>
              <a:gd name="adj" fmla="val 2133"/>
            </a:avLst>
          </a:prstGeom>
          <a:solidFill>
            <a:srgbClr val="0E223C">
              <a:alpha val="97000"/>
            </a:srgbClr>
          </a:solidFill>
          <a:ln w="12700">
            <a:solidFill>
              <a:srgbClr val="21476B"/>
            </a:solidFill>
            <a:prstDash val="solid"/>
          </a:ln>
        </p:spPr>
      </p:sp>
      <p:sp>
        <p:nvSpPr>
          <p:cNvPr id="5" name="Shape 3"/>
          <p:cNvSpPr/>
          <p:nvPr/>
        </p:nvSpPr>
        <p:spPr>
          <a:xfrm>
            <a:off x="704088" y="1645920"/>
            <a:ext cx="64008" cy="3474720"/>
          </a:xfrm>
          <a:prstGeom prst="rect">
            <a:avLst/>
          </a:prstGeom>
          <a:solidFill>
            <a:srgbClr val="20D5FF"/>
          </a:solidFill>
          <a:ln w="12700">
            <a:solidFill>
              <a:srgbClr val="20D5FF"/>
            </a:solidFill>
            <a:prstDash val="solid"/>
          </a:ln>
        </p:spPr>
      </p:sp>
      <p:sp>
        <p:nvSpPr>
          <p:cNvPr id="6" name="Text 4"/>
          <p:cNvSpPr/>
          <p:nvPr/>
        </p:nvSpPr>
        <p:spPr>
          <a:xfrm>
            <a:off x="914400" y="1764792"/>
            <a:ext cx="3063240" cy="274320"/>
          </a:xfrm>
          <a:prstGeom prst="rect">
            <a:avLst/>
          </a:prstGeom>
          <a:noFill/>
          <a:ln/>
        </p:spPr>
        <p:txBody>
          <a:bodyPr wrap="square" lIns="0" tIns="0" rIns="0" bIns="0" rtlCol="0" anchor="ctr"/>
          <a:lstStyle/>
          <a:p>
            <a:pPr marL="0" indent="0">
              <a:buNone/>
            </a:pPr>
            <a:r>
              <a:rPr lang="en-US" sz="1500" b="1" dirty="0">
                <a:solidFill>
                  <a:srgbClr val="F7FAFC"/>
                </a:solidFill>
              </a:rPr>
              <a:t>Lower memory pressure</a:t>
            </a:r>
            <a:endParaRPr lang="en-US" sz="1500" dirty="0"/>
          </a:p>
        </p:txBody>
      </p:sp>
      <p:sp>
        <p:nvSpPr>
          <p:cNvPr id="7" name="Text 5"/>
          <p:cNvSpPr/>
          <p:nvPr/>
        </p:nvSpPr>
        <p:spPr>
          <a:xfrm>
            <a:off x="914400" y="2130552"/>
            <a:ext cx="3017520" cy="2907792"/>
          </a:xfrm>
          <a:prstGeom prst="rect">
            <a:avLst/>
          </a:prstGeom>
          <a:noFill/>
          <a:ln/>
        </p:spPr>
        <p:txBody>
          <a:bodyPr wrap="square" lIns="0" tIns="0" rIns="0" bIns="0" rtlCol="0" anchor="ctr">
            <a:normAutofit/>
          </a:bodyPr>
          <a:lstStyle/>
          <a:p>
            <a:pPr marL="0" indent="0">
              <a:buNone/>
            </a:pPr>
            <a:r>
              <a:rPr lang="en-US" sz="1150" dirty="0">
                <a:solidFill>
                  <a:srgbClr val="A9BDD4"/>
                </a:solidFill>
              </a:rPr>
              <a:t>A 4-bit frozen base leaves more GPU memory for activations, adapters, and optimizer state.</a:t>
            </a:r>
            <a:endParaRPr lang="en-US" sz="1150" dirty="0"/>
          </a:p>
        </p:txBody>
      </p:sp>
      <p:sp>
        <p:nvSpPr>
          <p:cNvPr id="8" name="Shape 6"/>
          <p:cNvSpPr/>
          <p:nvPr/>
        </p:nvSpPr>
        <p:spPr>
          <a:xfrm>
            <a:off x="4389120" y="1600200"/>
            <a:ext cx="3429000" cy="3566160"/>
          </a:xfrm>
          <a:prstGeom prst="roundRect">
            <a:avLst>
              <a:gd name="adj" fmla="val 2133"/>
            </a:avLst>
          </a:prstGeom>
          <a:solidFill>
            <a:srgbClr val="0E223C">
              <a:alpha val="97000"/>
            </a:srgbClr>
          </a:solidFill>
          <a:ln w="12700">
            <a:solidFill>
              <a:srgbClr val="21476B"/>
            </a:solidFill>
            <a:prstDash val="solid"/>
          </a:ln>
        </p:spPr>
      </p:sp>
      <p:sp>
        <p:nvSpPr>
          <p:cNvPr id="9" name="Shape 7"/>
          <p:cNvSpPr/>
          <p:nvPr/>
        </p:nvSpPr>
        <p:spPr>
          <a:xfrm>
            <a:off x="4407408" y="1645920"/>
            <a:ext cx="64008" cy="3474720"/>
          </a:xfrm>
          <a:prstGeom prst="rect">
            <a:avLst/>
          </a:prstGeom>
          <a:solidFill>
            <a:srgbClr val="A855F7"/>
          </a:solidFill>
          <a:ln w="12700">
            <a:solidFill>
              <a:srgbClr val="A855F7"/>
            </a:solidFill>
            <a:prstDash val="solid"/>
          </a:ln>
        </p:spPr>
      </p:sp>
      <p:sp>
        <p:nvSpPr>
          <p:cNvPr id="10" name="Text 8"/>
          <p:cNvSpPr/>
          <p:nvPr/>
        </p:nvSpPr>
        <p:spPr>
          <a:xfrm>
            <a:off x="4617720" y="1764792"/>
            <a:ext cx="3063240" cy="274320"/>
          </a:xfrm>
          <a:prstGeom prst="rect">
            <a:avLst/>
          </a:prstGeom>
          <a:noFill/>
          <a:ln/>
        </p:spPr>
        <p:txBody>
          <a:bodyPr wrap="square" lIns="0" tIns="0" rIns="0" bIns="0" rtlCol="0" anchor="ctr"/>
          <a:lstStyle/>
          <a:p>
            <a:pPr marL="0" indent="0">
              <a:buNone/>
            </a:pPr>
            <a:r>
              <a:rPr lang="en-US" sz="1500" b="1" dirty="0">
                <a:solidFill>
                  <a:srgbClr val="F7FAFC"/>
                </a:solidFill>
              </a:rPr>
              <a:t>Adapter reuse</a:t>
            </a:r>
            <a:endParaRPr lang="en-US" sz="1500" dirty="0"/>
          </a:p>
        </p:txBody>
      </p:sp>
      <p:sp>
        <p:nvSpPr>
          <p:cNvPr id="11" name="Text 9"/>
          <p:cNvSpPr/>
          <p:nvPr/>
        </p:nvSpPr>
        <p:spPr>
          <a:xfrm>
            <a:off x="4617720" y="2130552"/>
            <a:ext cx="3017520" cy="2907792"/>
          </a:xfrm>
          <a:prstGeom prst="rect">
            <a:avLst/>
          </a:prstGeom>
          <a:noFill/>
          <a:ln/>
        </p:spPr>
        <p:txBody>
          <a:bodyPr wrap="square" lIns="0" tIns="0" rIns="0" bIns="0" rtlCol="0" anchor="ctr">
            <a:normAutofit/>
          </a:bodyPr>
          <a:lstStyle/>
          <a:p>
            <a:pPr marL="0" indent="0">
              <a:buNone/>
            </a:pPr>
            <a:r>
              <a:rPr lang="en-US" sz="1150" dirty="0">
                <a:solidFill>
                  <a:srgbClr val="A9BDD4"/>
                </a:solidFill>
              </a:rPr>
              <a:t>Train multiple small adapters for different tasks and reuse the same base model.</a:t>
            </a:r>
            <a:endParaRPr lang="en-US" sz="1150" dirty="0"/>
          </a:p>
        </p:txBody>
      </p:sp>
      <p:sp>
        <p:nvSpPr>
          <p:cNvPr id="12" name="Shape 10"/>
          <p:cNvSpPr/>
          <p:nvPr/>
        </p:nvSpPr>
        <p:spPr>
          <a:xfrm>
            <a:off x="8092440" y="1600200"/>
            <a:ext cx="3429000" cy="3566160"/>
          </a:xfrm>
          <a:prstGeom prst="roundRect">
            <a:avLst>
              <a:gd name="adj" fmla="val 2133"/>
            </a:avLst>
          </a:prstGeom>
          <a:solidFill>
            <a:srgbClr val="0E223C">
              <a:alpha val="97000"/>
            </a:srgbClr>
          </a:solidFill>
          <a:ln w="12700">
            <a:solidFill>
              <a:srgbClr val="21476B"/>
            </a:solidFill>
            <a:prstDash val="solid"/>
          </a:ln>
        </p:spPr>
      </p:sp>
      <p:sp>
        <p:nvSpPr>
          <p:cNvPr id="13" name="Shape 11"/>
          <p:cNvSpPr/>
          <p:nvPr/>
        </p:nvSpPr>
        <p:spPr>
          <a:xfrm>
            <a:off x="8110728" y="1645920"/>
            <a:ext cx="64008" cy="3474720"/>
          </a:xfrm>
          <a:prstGeom prst="rect">
            <a:avLst/>
          </a:prstGeom>
          <a:solidFill>
            <a:srgbClr val="52D3A3"/>
          </a:solidFill>
          <a:ln w="12700">
            <a:solidFill>
              <a:srgbClr val="52D3A3"/>
            </a:solidFill>
            <a:prstDash val="solid"/>
          </a:ln>
        </p:spPr>
      </p:sp>
      <p:sp>
        <p:nvSpPr>
          <p:cNvPr id="14" name="Text 12"/>
          <p:cNvSpPr/>
          <p:nvPr/>
        </p:nvSpPr>
        <p:spPr>
          <a:xfrm>
            <a:off x="8321040" y="1764792"/>
            <a:ext cx="3063240" cy="274320"/>
          </a:xfrm>
          <a:prstGeom prst="rect">
            <a:avLst/>
          </a:prstGeom>
          <a:noFill/>
          <a:ln/>
        </p:spPr>
        <p:txBody>
          <a:bodyPr wrap="square" lIns="0" tIns="0" rIns="0" bIns="0" rtlCol="0" anchor="ctr"/>
          <a:lstStyle/>
          <a:p>
            <a:pPr marL="0" indent="0">
              <a:buNone/>
            </a:pPr>
            <a:r>
              <a:rPr lang="en-US" sz="1500" b="1" dirty="0">
                <a:solidFill>
                  <a:srgbClr val="F7FAFC"/>
                </a:solidFill>
              </a:rPr>
              <a:t>Faster iteration</a:t>
            </a:r>
            <a:endParaRPr lang="en-US" sz="1500" dirty="0"/>
          </a:p>
        </p:txBody>
      </p:sp>
      <p:sp>
        <p:nvSpPr>
          <p:cNvPr id="15" name="Text 13"/>
          <p:cNvSpPr/>
          <p:nvPr/>
        </p:nvSpPr>
        <p:spPr>
          <a:xfrm>
            <a:off x="8321040" y="2130552"/>
            <a:ext cx="3017520" cy="2907792"/>
          </a:xfrm>
          <a:prstGeom prst="rect">
            <a:avLst/>
          </a:prstGeom>
          <a:noFill/>
          <a:ln/>
        </p:spPr>
        <p:txBody>
          <a:bodyPr wrap="square" lIns="0" tIns="0" rIns="0" bIns="0" rtlCol="0" anchor="ctr">
            <a:normAutofit/>
          </a:bodyPr>
          <a:lstStyle/>
          <a:p>
            <a:pPr marL="0" indent="0">
              <a:buNone/>
            </a:pPr>
            <a:r>
              <a:rPr lang="en-US" sz="1150" dirty="0">
                <a:solidFill>
                  <a:srgbClr val="A9BDD4"/>
                </a:solidFill>
              </a:rPr>
              <a:t>Smaller trainable checkpoints simplify experimentation, sharing, and task switching.</a:t>
            </a:r>
            <a:endParaRPr lang="en-US" sz="1150" dirty="0"/>
          </a:p>
        </p:txBody>
      </p:sp>
      <p:sp>
        <p:nvSpPr>
          <p:cNvPr id="16" name="Text 14"/>
          <p:cNvSpPr/>
          <p:nvPr/>
        </p:nvSpPr>
        <p:spPr>
          <a:xfrm>
            <a:off x="1143000" y="5577840"/>
            <a:ext cx="9875520" cy="365760"/>
          </a:xfrm>
          <a:prstGeom prst="rect">
            <a:avLst/>
          </a:prstGeom>
          <a:noFill/>
          <a:ln/>
        </p:spPr>
        <p:txBody>
          <a:bodyPr wrap="square" lIns="0" tIns="0" rIns="0" bIns="0" rtlCol="0" anchor="ctr"/>
          <a:lstStyle/>
          <a:p>
            <a:pPr marL="0" indent="0" algn="ctr">
              <a:buNone/>
            </a:pPr>
            <a:r>
              <a:rPr lang="en-US" sz="1500" b="1" dirty="0">
                <a:solidFill>
                  <a:srgbClr val="F6C85F"/>
                </a:solidFill>
              </a:rPr>
              <a:t>Quality still depends on data quality, evaluation, and training configuration.</a:t>
            </a:r>
            <a:endParaRPr lang="en-US" sz="1500" dirty="0"/>
          </a:p>
        </p:txBody>
      </p:sp>
      <p:sp>
        <p:nvSpPr>
          <p:cNvPr id="25" name="Slide Number Placeholder 0"/>
          <p:cNvSpPr>
            <a:spLocks noGrp="1"/>
          </p:cNvSpPr>
          <p:nvPr>
            <p:ph type="sldNum" sz="quarter" idx="4294967295"/>
          </p:nvPr>
        </p:nvSpPr>
        <p:spPr>
          <a:xfrm>
            <a:off x="11631613" y="6510338"/>
            <a:ext cx="800100" cy="300037"/>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1" cy="1"/>
          <a:chOff x="0" y="0"/>
          <a:chExt cx="1" cy="1"/>
        </a:xfrm>
      </p:grpSpPr>
      <p:sp>
        <p:nvSpPr>
          <p:cNvPr id="2" name="Text 0"/>
          <p:cNvSpPr/>
          <p:nvPr/>
        </p:nvSpPr>
        <p:spPr>
          <a:xfrm>
            <a:off x="548640" y="566928"/>
            <a:ext cx="11064240" cy="502920"/>
          </a:xfrm>
          <a:prstGeom prst="rect">
            <a:avLst/>
          </a:prstGeom>
          <a:noFill/>
          <a:ln/>
        </p:spPr>
        <p:txBody>
          <a:bodyPr wrap="square" lIns="0" tIns="0" rIns="0" bIns="0" rtlCol="0" anchor="ctr"/>
          <a:lstStyle/>
          <a:p>
            <a:pPr marL="0" indent="0">
              <a:buNone/>
            </a:pPr>
            <a:r>
              <a:rPr lang="en-US" sz="2700" b="1" dirty="0">
                <a:solidFill>
                  <a:srgbClr val="F7FAFC"/>
                </a:solidFill>
              </a:rPr>
              <a:t>Fine-tuning vs. RAG</a:t>
            </a:r>
            <a:endParaRPr lang="en-US" sz="2700" dirty="0"/>
          </a:p>
        </p:txBody>
      </p:sp>
      <p:sp>
        <p:nvSpPr>
          <p:cNvPr id="3" name="Text 1"/>
          <p:cNvSpPr/>
          <p:nvPr/>
        </p:nvSpPr>
        <p:spPr>
          <a:xfrm>
            <a:off x="566928" y="1078992"/>
            <a:ext cx="10789920" cy="310896"/>
          </a:xfrm>
          <a:prstGeom prst="rect">
            <a:avLst/>
          </a:prstGeom>
          <a:noFill/>
          <a:ln/>
        </p:spPr>
        <p:txBody>
          <a:bodyPr wrap="square" lIns="0" tIns="0" rIns="0" bIns="0" rtlCol="0" anchor="ctr"/>
          <a:lstStyle/>
          <a:p>
            <a:pPr marL="0" indent="0">
              <a:buNone/>
            </a:pPr>
            <a:r>
              <a:rPr lang="en-US" sz="1250" dirty="0">
                <a:solidFill>
                  <a:srgbClr val="A9BDD4"/>
                </a:solidFill>
              </a:rPr>
              <a:t>A useful analogy: closed-book learning versus an open-book system.</a:t>
            </a:r>
            <a:endParaRPr lang="en-US" sz="1250" dirty="0"/>
          </a:p>
        </p:txBody>
      </p:sp>
      <p:pic>
        <p:nvPicPr>
          <p:cNvPr id="4" name="Image 0" descr="/mnt/data/ad7699234b.png"/>
          <p:cNvPicPr>
            <a:picLocks noChangeAspect="1"/>
          </p:cNvPicPr>
          <p:nvPr/>
        </p:nvPicPr>
        <p:blipFill>
          <a:blip r:embed="rId3"/>
          <a:stretch>
            <a:fillRect/>
          </a:stretch>
        </p:blipFill>
        <p:spPr>
          <a:xfrm>
            <a:off x="502920" y="1371600"/>
            <a:ext cx="11155680" cy="4983480"/>
          </a:xfrm>
          <a:prstGeom prst="rect">
            <a:avLst/>
          </a:prstGeom>
        </p:spPr>
      </p:pic>
      <p:sp>
        <p:nvSpPr>
          <p:cNvPr id="5" name="Shape 2"/>
          <p:cNvSpPr/>
          <p:nvPr/>
        </p:nvSpPr>
        <p:spPr>
          <a:xfrm>
            <a:off x="502920" y="1371600"/>
            <a:ext cx="11155680" cy="4983480"/>
          </a:xfrm>
          <a:prstGeom prst="rect">
            <a:avLst/>
          </a:prstGeom>
          <a:solidFill>
            <a:srgbClr val="071426">
              <a:alpha val="42000"/>
            </a:srgbClr>
          </a:solidFill>
          <a:ln w="12700">
            <a:solidFill>
              <a:srgbClr val="071426">
                <a:alpha val="0"/>
              </a:srgbClr>
            </a:solidFill>
            <a:prstDash val="solid"/>
          </a:ln>
        </p:spPr>
      </p:sp>
      <p:sp>
        <p:nvSpPr>
          <p:cNvPr id="6" name="Shape 3"/>
          <p:cNvSpPr/>
          <p:nvPr/>
        </p:nvSpPr>
        <p:spPr>
          <a:xfrm>
            <a:off x="749808" y="1737360"/>
            <a:ext cx="5138928" cy="4069080"/>
          </a:xfrm>
          <a:prstGeom prst="roundRect">
            <a:avLst>
              <a:gd name="adj" fmla="val 1798"/>
            </a:avLst>
          </a:prstGeom>
          <a:solidFill>
            <a:srgbClr val="0E223C">
              <a:alpha val="97000"/>
            </a:srgbClr>
          </a:solidFill>
          <a:ln w="12700">
            <a:solidFill>
              <a:srgbClr val="21476B"/>
            </a:solidFill>
            <a:prstDash val="solid"/>
          </a:ln>
        </p:spPr>
      </p:sp>
      <p:sp>
        <p:nvSpPr>
          <p:cNvPr id="7" name="Shape 4"/>
          <p:cNvSpPr/>
          <p:nvPr/>
        </p:nvSpPr>
        <p:spPr>
          <a:xfrm>
            <a:off x="768096" y="1783080"/>
            <a:ext cx="64008" cy="3977640"/>
          </a:xfrm>
          <a:prstGeom prst="rect">
            <a:avLst/>
          </a:prstGeom>
          <a:solidFill>
            <a:srgbClr val="A855F7"/>
          </a:solidFill>
          <a:ln w="12700">
            <a:solidFill>
              <a:srgbClr val="A855F7"/>
            </a:solidFill>
            <a:prstDash val="solid"/>
          </a:ln>
        </p:spPr>
      </p:sp>
      <p:sp>
        <p:nvSpPr>
          <p:cNvPr id="8" name="Text 5"/>
          <p:cNvSpPr/>
          <p:nvPr/>
        </p:nvSpPr>
        <p:spPr>
          <a:xfrm>
            <a:off x="978408" y="1901952"/>
            <a:ext cx="4773168" cy="274320"/>
          </a:xfrm>
          <a:prstGeom prst="rect">
            <a:avLst/>
          </a:prstGeom>
          <a:noFill/>
          <a:ln/>
        </p:spPr>
        <p:txBody>
          <a:bodyPr wrap="square" lIns="0" tIns="0" rIns="0" bIns="0" rtlCol="0" anchor="ctr"/>
          <a:lstStyle/>
          <a:p>
            <a:pPr marL="0" indent="0">
              <a:buNone/>
            </a:pPr>
            <a:r>
              <a:rPr lang="en-US" sz="1500" b="1" dirty="0">
                <a:solidFill>
                  <a:srgbClr val="F7FAFC"/>
                </a:solidFill>
              </a:rPr>
              <a:t>FINE-TUNING</a:t>
            </a:r>
            <a:endParaRPr lang="en-US" sz="1500" dirty="0"/>
          </a:p>
        </p:txBody>
      </p:sp>
      <p:sp>
        <p:nvSpPr>
          <p:cNvPr id="9" name="Text 6"/>
          <p:cNvSpPr/>
          <p:nvPr/>
        </p:nvSpPr>
        <p:spPr>
          <a:xfrm>
            <a:off x="978408" y="2267712"/>
            <a:ext cx="4727448" cy="3410712"/>
          </a:xfrm>
          <a:prstGeom prst="rect">
            <a:avLst/>
          </a:prstGeom>
          <a:noFill/>
          <a:ln/>
        </p:spPr>
        <p:txBody>
          <a:bodyPr wrap="square" lIns="0" tIns="0" rIns="0" bIns="0" rtlCol="0" anchor="ctr">
            <a:normAutofit/>
          </a:bodyPr>
          <a:lstStyle/>
          <a:p>
            <a:pPr marL="0" indent="0">
              <a:buNone/>
            </a:pPr>
            <a:r>
              <a:rPr lang="en-US" sz="1150" dirty="0">
                <a:solidFill>
                  <a:srgbClr val="A9BDD4"/>
                </a:solidFill>
              </a:rPr>
              <a:t>Changes internal parameters through training.</a:t>
            </a:r>
            <a:endParaRPr lang="en-US" sz="1150" dirty="0"/>
          </a:p>
          <a:p>
            <a:pPr marL="0" indent="0">
              <a:buNone/>
            </a:pPr>
            <a:endParaRPr lang="en-US" sz="1150" dirty="0"/>
          </a:p>
          <a:p>
            <a:pPr marL="0" indent="0">
              <a:buNone/>
            </a:pPr>
            <a:r>
              <a:rPr lang="en-US" sz="1150" dirty="0">
                <a:solidFill>
                  <a:srgbClr val="A9BDD4"/>
                </a:solidFill>
              </a:rPr>
              <a:t>Best for:</a:t>
            </a:r>
            <a:endParaRPr lang="en-US" sz="1150" dirty="0"/>
          </a:p>
          <a:p>
            <a:pPr marL="0" indent="0">
              <a:buNone/>
            </a:pPr>
            <a:r>
              <a:rPr lang="en-US" sz="1150" dirty="0">
                <a:solidFill>
                  <a:srgbClr val="A9BDD4"/>
                </a:solidFill>
              </a:rPr>
              <a:t>• Tone and style</a:t>
            </a:r>
            <a:endParaRPr lang="en-US" sz="1150" dirty="0"/>
          </a:p>
          <a:p>
            <a:pPr marL="0" indent="0">
              <a:buNone/>
            </a:pPr>
            <a:r>
              <a:rPr lang="en-US" sz="1150" dirty="0">
                <a:solidFill>
                  <a:srgbClr val="A9BDD4"/>
                </a:solidFill>
              </a:rPr>
              <a:t>• Output format</a:t>
            </a:r>
            <a:endParaRPr lang="en-US" sz="1150" dirty="0"/>
          </a:p>
          <a:p>
            <a:pPr marL="0" indent="0">
              <a:buNone/>
            </a:pPr>
            <a:r>
              <a:rPr lang="en-US" sz="1150" dirty="0">
                <a:solidFill>
                  <a:srgbClr val="A9BDD4"/>
                </a:solidFill>
              </a:rPr>
              <a:t>• Stable task behavior</a:t>
            </a:r>
            <a:endParaRPr lang="en-US" sz="1150" dirty="0"/>
          </a:p>
          <a:p>
            <a:pPr marL="0" indent="0">
              <a:buNone/>
            </a:pPr>
            <a:r>
              <a:rPr lang="en-US" sz="1150" dirty="0">
                <a:solidFill>
                  <a:srgbClr val="A9BDD4"/>
                </a:solidFill>
              </a:rPr>
              <a:t>• Domain terminology</a:t>
            </a:r>
            <a:endParaRPr lang="en-US" sz="1150" dirty="0"/>
          </a:p>
          <a:p>
            <a:pPr marL="0" indent="0">
              <a:buNone/>
            </a:pPr>
            <a:endParaRPr lang="en-US" sz="1150" dirty="0"/>
          </a:p>
          <a:p>
            <a:pPr marL="0" indent="0">
              <a:buNone/>
            </a:pPr>
            <a:r>
              <a:rPr lang="en-US" sz="1150" dirty="0">
                <a:solidFill>
                  <a:srgbClr val="A9BDD4"/>
                </a:solidFill>
              </a:rPr>
              <a:t>Updating requires more training.</a:t>
            </a:r>
            <a:endParaRPr lang="en-US" sz="1150" dirty="0"/>
          </a:p>
        </p:txBody>
      </p:sp>
      <p:sp>
        <p:nvSpPr>
          <p:cNvPr id="10" name="Shape 7"/>
          <p:cNvSpPr/>
          <p:nvPr/>
        </p:nvSpPr>
        <p:spPr>
          <a:xfrm>
            <a:off x="6309360" y="1737360"/>
            <a:ext cx="5138928" cy="4069080"/>
          </a:xfrm>
          <a:prstGeom prst="roundRect">
            <a:avLst>
              <a:gd name="adj" fmla="val 1798"/>
            </a:avLst>
          </a:prstGeom>
          <a:solidFill>
            <a:srgbClr val="0E223C">
              <a:alpha val="97000"/>
            </a:srgbClr>
          </a:solidFill>
          <a:ln w="12700">
            <a:solidFill>
              <a:srgbClr val="21476B"/>
            </a:solidFill>
            <a:prstDash val="solid"/>
          </a:ln>
        </p:spPr>
      </p:sp>
      <p:sp>
        <p:nvSpPr>
          <p:cNvPr id="11" name="Shape 8"/>
          <p:cNvSpPr/>
          <p:nvPr/>
        </p:nvSpPr>
        <p:spPr>
          <a:xfrm>
            <a:off x="6327648" y="1783080"/>
            <a:ext cx="64008" cy="3977640"/>
          </a:xfrm>
          <a:prstGeom prst="rect">
            <a:avLst/>
          </a:prstGeom>
          <a:solidFill>
            <a:srgbClr val="20D5FF"/>
          </a:solidFill>
          <a:ln w="12700">
            <a:solidFill>
              <a:srgbClr val="20D5FF"/>
            </a:solidFill>
            <a:prstDash val="solid"/>
          </a:ln>
        </p:spPr>
      </p:sp>
      <p:sp>
        <p:nvSpPr>
          <p:cNvPr id="12" name="Text 9"/>
          <p:cNvSpPr/>
          <p:nvPr/>
        </p:nvSpPr>
        <p:spPr>
          <a:xfrm>
            <a:off x="6537960" y="1901952"/>
            <a:ext cx="4773168" cy="274320"/>
          </a:xfrm>
          <a:prstGeom prst="rect">
            <a:avLst/>
          </a:prstGeom>
          <a:noFill/>
          <a:ln/>
        </p:spPr>
        <p:txBody>
          <a:bodyPr wrap="square" lIns="0" tIns="0" rIns="0" bIns="0" rtlCol="0" anchor="ctr"/>
          <a:lstStyle/>
          <a:p>
            <a:pPr marL="0" indent="0">
              <a:buNone/>
            </a:pPr>
            <a:r>
              <a:rPr lang="en-US" sz="1500" b="1" dirty="0">
                <a:solidFill>
                  <a:srgbClr val="F7FAFC"/>
                </a:solidFill>
              </a:rPr>
              <a:t>RAG</a:t>
            </a:r>
            <a:endParaRPr lang="en-US" sz="1500" dirty="0"/>
          </a:p>
        </p:txBody>
      </p:sp>
      <p:sp>
        <p:nvSpPr>
          <p:cNvPr id="13" name="Text 10"/>
          <p:cNvSpPr/>
          <p:nvPr/>
        </p:nvSpPr>
        <p:spPr>
          <a:xfrm>
            <a:off x="6537960" y="2267712"/>
            <a:ext cx="4727448" cy="3410712"/>
          </a:xfrm>
          <a:prstGeom prst="rect">
            <a:avLst/>
          </a:prstGeom>
          <a:noFill/>
          <a:ln/>
        </p:spPr>
        <p:txBody>
          <a:bodyPr wrap="square" lIns="0" tIns="0" rIns="0" bIns="0" rtlCol="0" anchor="ctr">
            <a:normAutofit/>
          </a:bodyPr>
          <a:lstStyle/>
          <a:p>
            <a:pPr marL="0" indent="0">
              <a:buNone/>
            </a:pPr>
            <a:r>
              <a:rPr lang="en-US" sz="1150" dirty="0">
                <a:solidFill>
                  <a:srgbClr val="A9BDD4"/>
                </a:solidFill>
              </a:rPr>
              <a:t>Retrieves external content at query time and adds it to the model context.</a:t>
            </a:r>
            <a:endParaRPr lang="en-US" sz="1150" dirty="0"/>
          </a:p>
          <a:p>
            <a:pPr marL="0" indent="0">
              <a:buNone/>
            </a:pPr>
            <a:endParaRPr lang="en-US" sz="1150" dirty="0"/>
          </a:p>
          <a:p>
            <a:pPr marL="0" indent="0">
              <a:buNone/>
            </a:pPr>
            <a:r>
              <a:rPr lang="en-US" sz="1150" dirty="0">
                <a:solidFill>
                  <a:srgbClr val="A9BDD4"/>
                </a:solidFill>
              </a:rPr>
              <a:t>Best for:</a:t>
            </a:r>
            <a:endParaRPr lang="en-US" sz="1150" dirty="0"/>
          </a:p>
          <a:p>
            <a:pPr marL="0" indent="0">
              <a:buNone/>
            </a:pPr>
            <a:r>
              <a:rPr lang="en-US" sz="1150" dirty="0">
                <a:solidFill>
                  <a:srgbClr val="A9BDD4"/>
                </a:solidFill>
              </a:rPr>
              <a:t>• Changing facts</a:t>
            </a:r>
            <a:endParaRPr lang="en-US" sz="1150" dirty="0"/>
          </a:p>
          <a:p>
            <a:pPr marL="0" indent="0">
              <a:buNone/>
            </a:pPr>
            <a:r>
              <a:rPr lang="en-US" sz="1150" dirty="0">
                <a:solidFill>
                  <a:srgbClr val="A9BDD4"/>
                </a:solidFill>
              </a:rPr>
              <a:t>• Private document knowledge</a:t>
            </a:r>
            <a:endParaRPr lang="en-US" sz="1150" dirty="0"/>
          </a:p>
          <a:p>
            <a:pPr marL="0" indent="0">
              <a:buNone/>
            </a:pPr>
            <a:r>
              <a:rPr lang="en-US" sz="1150" dirty="0">
                <a:solidFill>
                  <a:srgbClr val="A9BDD4"/>
                </a:solidFill>
              </a:rPr>
              <a:t>• Source traceability</a:t>
            </a:r>
            <a:endParaRPr lang="en-US" sz="1150" dirty="0"/>
          </a:p>
          <a:p>
            <a:pPr marL="0" indent="0">
              <a:buNone/>
            </a:pPr>
            <a:r>
              <a:rPr lang="en-US" sz="1150" dirty="0">
                <a:solidFill>
                  <a:srgbClr val="A9BDD4"/>
                </a:solidFill>
              </a:rPr>
              <a:t>• Rapid content updates</a:t>
            </a:r>
            <a:endParaRPr lang="en-US" sz="1150" dirty="0"/>
          </a:p>
          <a:p>
            <a:pPr marL="0" indent="0">
              <a:buNone/>
            </a:pPr>
            <a:endParaRPr lang="en-US" sz="1150" dirty="0"/>
          </a:p>
          <a:p>
            <a:pPr marL="0" indent="0">
              <a:buNone/>
            </a:pPr>
            <a:r>
              <a:rPr lang="en-US" sz="1150" dirty="0">
                <a:solidFill>
                  <a:srgbClr val="A9BDD4"/>
                </a:solidFill>
              </a:rPr>
              <a:t>Requires retrieval infrastructure.</a:t>
            </a:r>
            <a:endParaRPr lang="en-US" sz="1150" dirty="0"/>
          </a:p>
        </p:txBody>
      </p:sp>
      <p:sp>
        <p:nvSpPr>
          <p:cNvPr id="25" name="Slide Number Placeholder 0"/>
          <p:cNvSpPr>
            <a:spLocks noGrp="1"/>
          </p:cNvSpPr>
          <p:nvPr>
            <p:ph type="sldNum" sz="quarter" idx="4294967295"/>
          </p:nvPr>
        </p:nvSpPr>
        <p:spPr>
          <a:xfrm>
            <a:off x="11631613" y="6510338"/>
            <a:ext cx="800100" cy="300037"/>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1" cy="1"/>
          <a:chOff x="0" y="0"/>
          <a:chExt cx="1" cy="1"/>
        </a:xfrm>
      </p:grpSpPr>
      <p:sp>
        <p:nvSpPr>
          <p:cNvPr id="2" name="Text 0"/>
          <p:cNvSpPr/>
          <p:nvPr/>
        </p:nvSpPr>
        <p:spPr>
          <a:xfrm>
            <a:off x="548640" y="566928"/>
            <a:ext cx="11064240" cy="502920"/>
          </a:xfrm>
          <a:prstGeom prst="rect">
            <a:avLst/>
          </a:prstGeom>
          <a:noFill/>
          <a:ln/>
        </p:spPr>
        <p:txBody>
          <a:bodyPr wrap="square" lIns="0" tIns="0" rIns="0" bIns="0" rtlCol="0" anchor="ctr"/>
          <a:lstStyle/>
          <a:p>
            <a:pPr marL="0" indent="0">
              <a:buNone/>
            </a:pPr>
            <a:r>
              <a:rPr lang="en-US" sz="2700" b="1" dirty="0">
                <a:solidFill>
                  <a:srgbClr val="F7FAFC"/>
                </a:solidFill>
              </a:rPr>
              <a:t>Choosing the right approach</a:t>
            </a:r>
            <a:endParaRPr lang="en-US" sz="2700" dirty="0"/>
          </a:p>
        </p:txBody>
      </p:sp>
      <p:sp>
        <p:nvSpPr>
          <p:cNvPr id="3" name="Text 1"/>
          <p:cNvSpPr/>
          <p:nvPr/>
        </p:nvSpPr>
        <p:spPr>
          <a:xfrm>
            <a:off x="566928" y="1078992"/>
            <a:ext cx="10789920" cy="310896"/>
          </a:xfrm>
          <a:prstGeom prst="rect">
            <a:avLst/>
          </a:prstGeom>
          <a:noFill/>
          <a:ln/>
        </p:spPr>
        <p:txBody>
          <a:bodyPr wrap="square" lIns="0" tIns="0" rIns="0" bIns="0" rtlCol="0" anchor="ctr"/>
          <a:lstStyle/>
          <a:p>
            <a:pPr marL="0" indent="0">
              <a:buNone/>
            </a:pPr>
            <a:r>
              <a:rPr lang="en-US" sz="1250" dirty="0">
                <a:solidFill>
                  <a:srgbClr val="A9BDD4"/>
                </a:solidFill>
              </a:rPr>
              <a:t>Start with the problem, not the technique.</a:t>
            </a:r>
            <a:endParaRPr lang="en-US" sz="1250" dirty="0"/>
          </a:p>
        </p:txBody>
      </p:sp>
      <p:sp>
        <p:nvSpPr>
          <p:cNvPr id="4" name="Shape 2"/>
          <p:cNvSpPr/>
          <p:nvPr/>
        </p:nvSpPr>
        <p:spPr>
          <a:xfrm>
            <a:off x="1005840" y="1417320"/>
            <a:ext cx="4663440" cy="749808"/>
          </a:xfrm>
          <a:prstGeom prst="roundRect">
            <a:avLst/>
          </a:prstGeom>
          <a:solidFill>
            <a:srgbClr val="0E223C"/>
          </a:solidFill>
          <a:ln w="12700">
            <a:solidFill>
              <a:srgbClr val="2A5376"/>
            </a:solidFill>
            <a:prstDash val="solid"/>
          </a:ln>
        </p:spPr>
      </p:sp>
      <p:sp>
        <p:nvSpPr>
          <p:cNvPr id="5" name="Text 3"/>
          <p:cNvSpPr/>
          <p:nvPr/>
        </p:nvSpPr>
        <p:spPr>
          <a:xfrm>
            <a:off x="1234440" y="1645920"/>
            <a:ext cx="4251960" cy="274320"/>
          </a:xfrm>
          <a:prstGeom prst="rect">
            <a:avLst/>
          </a:prstGeom>
          <a:noFill/>
          <a:ln/>
        </p:spPr>
        <p:txBody>
          <a:bodyPr wrap="square" lIns="0" tIns="0" rIns="0" bIns="0" rtlCol="0" anchor="ctr"/>
          <a:lstStyle/>
          <a:p>
            <a:pPr marL="0" indent="0">
              <a:buNone/>
            </a:pPr>
            <a:r>
              <a:rPr lang="en-US" sz="1600" b="1" dirty="0">
                <a:solidFill>
                  <a:srgbClr val="F7FAFC"/>
                </a:solidFill>
              </a:rPr>
              <a:t>Need fresh facts or citations?</a:t>
            </a:r>
            <a:endParaRPr lang="en-US" sz="1600" dirty="0"/>
          </a:p>
        </p:txBody>
      </p:sp>
      <p:sp>
        <p:nvSpPr>
          <p:cNvPr id="6" name="Text 4"/>
          <p:cNvSpPr/>
          <p:nvPr/>
        </p:nvSpPr>
        <p:spPr>
          <a:xfrm>
            <a:off x="5806440" y="1581912"/>
            <a:ext cx="502920" cy="411480"/>
          </a:xfrm>
          <a:prstGeom prst="rect">
            <a:avLst/>
          </a:prstGeom>
          <a:noFill/>
          <a:ln/>
        </p:spPr>
        <p:txBody>
          <a:bodyPr wrap="square" lIns="0" tIns="0" rIns="0" bIns="0" rtlCol="0" anchor="ctr"/>
          <a:lstStyle/>
          <a:p>
            <a:pPr marL="0" indent="0" algn="ctr">
              <a:buNone/>
            </a:pPr>
            <a:r>
              <a:rPr lang="en-US" sz="2500" dirty="0">
                <a:solidFill>
                  <a:srgbClr val="20D5FF"/>
                </a:solidFill>
              </a:rPr>
              <a:t>→</a:t>
            </a:r>
            <a:endParaRPr lang="en-US" sz="2500" dirty="0"/>
          </a:p>
        </p:txBody>
      </p:sp>
      <p:sp>
        <p:nvSpPr>
          <p:cNvPr id="7" name="Shape 5"/>
          <p:cNvSpPr/>
          <p:nvPr/>
        </p:nvSpPr>
        <p:spPr>
          <a:xfrm>
            <a:off x="6446520" y="1417320"/>
            <a:ext cx="4663440" cy="749808"/>
          </a:xfrm>
          <a:prstGeom prst="roundRect">
            <a:avLst/>
          </a:prstGeom>
          <a:solidFill>
            <a:srgbClr val="143252"/>
          </a:solidFill>
          <a:ln w="12700">
            <a:solidFill>
              <a:srgbClr val="20D5FF"/>
            </a:solidFill>
            <a:prstDash val="solid"/>
          </a:ln>
        </p:spPr>
      </p:sp>
      <p:sp>
        <p:nvSpPr>
          <p:cNvPr id="8" name="Text 6"/>
          <p:cNvSpPr/>
          <p:nvPr/>
        </p:nvSpPr>
        <p:spPr>
          <a:xfrm>
            <a:off x="6720840" y="1636776"/>
            <a:ext cx="4114800" cy="274320"/>
          </a:xfrm>
          <a:prstGeom prst="rect">
            <a:avLst/>
          </a:prstGeom>
          <a:noFill/>
          <a:ln/>
        </p:spPr>
        <p:txBody>
          <a:bodyPr wrap="square" lIns="0" tIns="0" rIns="0" bIns="0" rtlCol="0" anchor="ctr"/>
          <a:lstStyle/>
          <a:p>
            <a:pPr marL="0" indent="0" algn="ctr">
              <a:buNone/>
            </a:pPr>
            <a:r>
              <a:rPr lang="en-US" sz="1600" b="1" dirty="0">
                <a:solidFill>
                  <a:srgbClr val="F7FAFC"/>
                </a:solidFill>
              </a:rPr>
              <a:t>Use RAG</a:t>
            </a:r>
            <a:endParaRPr lang="en-US" sz="1600" dirty="0"/>
          </a:p>
        </p:txBody>
      </p:sp>
      <p:sp>
        <p:nvSpPr>
          <p:cNvPr id="9" name="Shape 7"/>
          <p:cNvSpPr/>
          <p:nvPr/>
        </p:nvSpPr>
        <p:spPr>
          <a:xfrm>
            <a:off x="1005840" y="2560320"/>
            <a:ext cx="4663440" cy="749808"/>
          </a:xfrm>
          <a:prstGeom prst="roundRect">
            <a:avLst/>
          </a:prstGeom>
          <a:solidFill>
            <a:srgbClr val="0E223C"/>
          </a:solidFill>
          <a:ln w="12700">
            <a:solidFill>
              <a:srgbClr val="2A5376"/>
            </a:solidFill>
            <a:prstDash val="solid"/>
          </a:ln>
        </p:spPr>
      </p:sp>
      <p:sp>
        <p:nvSpPr>
          <p:cNvPr id="10" name="Text 8"/>
          <p:cNvSpPr/>
          <p:nvPr/>
        </p:nvSpPr>
        <p:spPr>
          <a:xfrm>
            <a:off x="1234440" y="2788920"/>
            <a:ext cx="4251960" cy="274320"/>
          </a:xfrm>
          <a:prstGeom prst="rect">
            <a:avLst/>
          </a:prstGeom>
          <a:noFill/>
          <a:ln/>
        </p:spPr>
        <p:txBody>
          <a:bodyPr wrap="square" lIns="0" tIns="0" rIns="0" bIns="0" rtlCol="0" anchor="ctr"/>
          <a:lstStyle/>
          <a:p>
            <a:pPr marL="0" indent="0">
              <a:buNone/>
            </a:pPr>
            <a:r>
              <a:rPr lang="en-US" sz="1600" b="1" dirty="0">
                <a:solidFill>
                  <a:srgbClr val="F7FAFC"/>
                </a:solidFill>
              </a:rPr>
              <a:t>Need stable tone, format, or behavior?</a:t>
            </a:r>
            <a:endParaRPr lang="en-US" sz="1600" dirty="0"/>
          </a:p>
        </p:txBody>
      </p:sp>
      <p:sp>
        <p:nvSpPr>
          <p:cNvPr id="11" name="Text 9"/>
          <p:cNvSpPr/>
          <p:nvPr/>
        </p:nvSpPr>
        <p:spPr>
          <a:xfrm>
            <a:off x="5806440" y="2724912"/>
            <a:ext cx="502920" cy="411480"/>
          </a:xfrm>
          <a:prstGeom prst="rect">
            <a:avLst/>
          </a:prstGeom>
          <a:noFill/>
          <a:ln/>
        </p:spPr>
        <p:txBody>
          <a:bodyPr wrap="square" lIns="0" tIns="0" rIns="0" bIns="0" rtlCol="0" anchor="ctr"/>
          <a:lstStyle/>
          <a:p>
            <a:pPr marL="0" indent="0" algn="ctr">
              <a:buNone/>
            </a:pPr>
            <a:r>
              <a:rPr lang="en-US" sz="2500" dirty="0">
                <a:solidFill>
                  <a:srgbClr val="20D5FF"/>
                </a:solidFill>
              </a:rPr>
              <a:t>→</a:t>
            </a:r>
            <a:endParaRPr lang="en-US" sz="2500" dirty="0"/>
          </a:p>
        </p:txBody>
      </p:sp>
      <p:sp>
        <p:nvSpPr>
          <p:cNvPr id="12" name="Shape 10"/>
          <p:cNvSpPr/>
          <p:nvPr/>
        </p:nvSpPr>
        <p:spPr>
          <a:xfrm>
            <a:off x="6446520" y="2560320"/>
            <a:ext cx="4663440" cy="749808"/>
          </a:xfrm>
          <a:prstGeom prst="roundRect">
            <a:avLst/>
          </a:prstGeom>
          <a:solidFill>
            <a:srgbClr val="143252"/>
          </a:solidFill>
          <a:ln w="12700">
            <a:solidFill>
              <a:srgbClr val="20D5FF"/>
            </a:solidFill>
            <a:prstDash val="solid"/>
          </a:ln>
        </p:spPr>
      </p:sp>
      <p:sp>
        <p:nvSpPr>
          <p:cNvPr id="13" name="Text 11"/>
          <p:cNvSpPr/>
          <p:nvPr/>
        </p:nvSpPr>
        <p:spPr>
          <a:xfrm>
            <a:off x="6720840" y="2779776"/>
            <a:ext cx="4114800" cy="274320"/>
          </a:xfrm>
          <a:prstGeom prst="rect">
            <a:avLst/>
          </a:prstGeom>
          <a:noFill/>
          <a:ln/>
        </p:spPr>
        <p:txBody>
          <a:bodyPr wrap="square" lIns="0" tIns="0" rIns="0" bIns="0" rtlCol="0" anchor="ctr"/>
          <a:lstStyle/>
          <a:p>
            <a:pPr marL="0" indent="0" algn="ctr">
              <a:buNone/>
            </a:pPr>
            <a:r>
              <a:rPr lang="en-US" sz="1600" b="1" dirty="0">
                <a:solidFill>
                  <a:srgbClr val="F7FAFC"/>
                </a:solidFill>
              </a:rPr>
              <a:t>Use fine-tuning</a:t>
            </a:r>
            <a:endParaRPr lang="en-US" sz="1600" dirty="0"/>
          </a:p>
        </p:txBody>
      </p:sp>
      <p:sp>
        <p:nvSpPr>
          <p:cNvPr id="14" name="Shape 12"/>
          <p:cNvSpPr/>
          <p:nvPr/>
        </p:nvSpPr>
        <p:spPr>
          <a:xfrm>
            <a:off x="1005840" y="3703320"/>
            <a:ext cx="4663440" cy="749808"/>
          </a:xfrm>
          <a:prstGeom prst="roundRect">
            <a:avLst/>
          </a:prstGeom>
          <a:solidFill>
            <a:srgbClr val="0E223C"/>
          </a:solidFill>
          <a:ln w="12700">
            <a:solidFill>
              <a:srgbClr val="2A5376"/>
            </a:solidFill>
            <a:prstDash val="solid"/>
          </a:ln>
        </p:spPr>
      </p:sp>
      <p:sp>
        <p:nvSpPr>
          <p:cNvPr id="15" name="Text 13"/>
          <p:cNvSpPr/>
          <p:nvPr/>
        </p:nvSpPr>
        <p:spPr>
          <a:xfrm>
            <a:off x="1234440" y="3931920"/>
            <a:ext cx="4251960" cy="274320"/>
          </a:xfrm>
          <a:prstGeom prst="rect">
            <a:avLst/>
          </a:prstGeom>
          <a:noFill/>
          <a:ln/>
        </p:spPr>
        <p:txBody>
          <a:bodyPr wrap="square" lIns="0" tIns="0" rIns="0" bIns="0" rtlCol="0" anchor="ctr"/>
          <a:lstStyle/>
          <a:p>
            <a:pPr marL="0" indent="0">
              <a:buNone/>
            </a:pPr>
            <a:r>
              <a:rPr lang="en-US" sz="1600" b="1" dirty="0">
                <a:solidFill>
                  <a:srgbClr val="F7FAFC"/>
                </a:solidFill>
              </a:rPr>
              <a:t>Need low-memory adaptation?</a:t>
            </a:r>
            <a:endParaRPr lang="en-US" sz="1600" dirty="0"/>
          </a:p>
        </p:txBody>
      </p:sp>
      <p:sp>
        <p:nvSpPr>
          <p:cNvPr id="16" name="Text 14"/>
          <p:cNvSpPr/>
          <p:nvPr/>
        </p:nvSpPr>
        <p:spPr>
          <a:xfrm>
            <a:off x="5806440" y="3867912"/>
            <a:ext cx="502920" cy="411480"/>
          </a:xfrm>
          <a:prstGeom prst="rect">
            <a:avLst/>
          </a:prstGeom>
          <a:noFill/>
          <a:ln/>
        </p:spPr>
        <p:txBody>
          <a:bodyPr wrap="square" lIns="0" tIns="0" rIns="0" bIns="0" rtlCol="0" anchor="ctr"/>
          <a:lstStyle/>
          <a:p>
            <a:pPr marL="0" indent="0" algn="ctr">
              <a:buNone/>
            </a:pPr>
            <a:r>
              <a:rPr lang="en-US" sz="2500" dirty="0">
                <a:solidFill>
                  <a:srgbClr val="20D5FF"/>
                </a:solidFill>
              </a:rPr>
              <a:t>→</a:t>
            </a:r>
            <a:endParaRPr lang="en-US" sz="2500" dirty="0"/>
          </a:p>
        </p:txBody>
      </p:sp>
      <p:sp>
        <p:nvSpPr>
          <p:cNvPr id="17" name="Shape 15"/>
          <p:cNvSpPr/>
          <p:nvPr/>
        </p:nvSpPr>
        <p:spPr>
          <a:xfrm>
            <a:off x="6446520" y="3703320"/>
            <a:ext cx="4663440" cy="749808"/>
          </a:xfrm>
          <a:prstGeom prst="roundRect">
            <a:avLst/>
          </a:prstGeom>
          <a:solidFill>
            <a:srgbClr val="143252"/>
          </a:solidFill>
          <a:ln w="12700">
            <a:solidFill>
              <a:srgbClr val="20D5FF"/>
            </a:solidFill>
            <a:prstDash val="solid"/>
          </a:ln>
        </p:spPr>
      </p:sp>
      <p:sp>
        <p:nvSpPr>
          <p:cNvPr id="18" name="Text 16"/>
          <p:cNvSpPr/>
          <p:nvPr/>
        </p:nvSpPr>
        <p:spPr>
          <a:xfrm>
            <a:off x="6720840" y="3922776"/>
            <a:ext cx="4114800" cy="274320"/>
          </a:xfrm>
          <a:prstGeom prst="rect">
            <a:avLst/>
          </a:prstGeom>
          <a:noFill/>
          <a:ln/>
        </p:spPr>
        <p:txBody>
          <a:bodyPr wrap="square" lIns="0" tIns="0" rIns="0" bIns="0" rtlCol="0" anchor="ctr"/>
          <a:lstStyle/>
          <a:p>
            <a:pPr marL="0" indent="0" algn="ctr">
              <a:buNone/>
            </a:pPr>
            <a:r>
              <a:rPr lang="en-US" sz="1600" b="1" dirty="0">
                <a:solidFill>
                  <a:srgbClr val="F7FAFC"/>
                </a:solidFill>
              </a:rPr>
              <a:t>Use LoRA or QLoRA</a:t>
            </a:r>
            <a:endParaRPr lang="en-US" sz="1600" dirty="0"/>
          </a:p>
        </p:txBody>
      </p:sp>
      <p:sp>
        <p:nvSpPr>
          <p:cNvPr id="19" name="Shape 17"/>
          <p:cNvSpPr/>
          <p:nvPr/>
        </p:nvSpPr>
        <p:spPr>
          <a:xfrm>
            <a:off x="1005840" y="4846320"/>
            <a:ext cx="4663440" cy="749808"/>
          </a:xfrm>
          <a:prstGeom prst="roundRect">
            <a:avLst/>
          </a:prstGeom>
          <a:solidFill>
            <a:srgbClr val="0E223C"/>
          </a:solidFill>
          <a:ln w="12700">
            <a:solidFill>
              <a:srgbClr val="2A5376"/>
            </a:solidFill>
            <a:prstDash val="solid"/>
          </a:ln>
        </p:spPr>
      </p:sp>
      <p:sp>
        <p:nvSpPr>
          <p:cNvPr id="20" name="Text 18"/>
          <p:cNvSpPr/>
          <p:nvPr/>
        </p:nvSpPr>
        <p:spPr>
          <a:xfrm>
            <a:off x="1234440" y="5074920"/>
            <a:ext cx="4251960" cy="274320"/>
          </a:xfrm>
          <a:prstGeom prst="rect">
            <a:avLst/>
          </a:prstGeom>
          <a:noFill/>
          <a:ln/>
        </p:spPr>
        <p:txBody>
          <a:bodyPr wrap="square" lIns="0" tIns="0" rIns="0" bIns="0" rtlCol="0" anchor="ctr"/>
          <a:lstStyle/>
          <a:p>
            <a:pPr marL="0" indent="0">
              <a:buNone/>
            </a:pPr>
            <a:r>
              <a:rPr lang="en-US" sz="1600" b="1" dirty="0">
                <a:solidFill>
                  <a:srgbClr val="F7FAFC"/>
                </a:solidFill>
              </a:rPr>
              <a:t>Need both behavior and grounded knowledge?</a:t>
            </a:r>
            <a:endParaRPr lang="en-US" sz="1600" dirty="0"/>
          </a:p>
        </p:txBody>
      </p:sp>
      <p:sp>
        <p:nvSpPr>
          <p:cNvPr id="21" name="Text 19"/>
          <p:cNvSpPr/>
          <p:nvPr/>
        </p:nvSpPr>
        <p:spPr>
          <a:xfrm>
            <a:off x="5806440" y="5010912"/>
            <a:ext cx="502920" cy="411480"/>
          </a:xfrm>
          <a:prstGeom prst="rect">
            <a:avLst/>
          </a:prstGeom>
          <a:noFill/>
          <a:ln/>
        </p:spPr>
        <p:txBody>
          <a:bodyPr wrap="square" lIns="0" tIns="0" rIns="0" bIns="0" rtlCol="0" anchor="ctr"/>
          <a:lstStyle/>
          <a:p>
            <a:pPr marL="0" indent="0" algn="ctr">
              <a:buNone/>
            </a:pPr>
            <a:r>
              <a:rPr lang="en-US" sz="2500" dirty="0">
                <a:solidFill>
                  <a:srgbClr val="20D5FF"/>
                </a:solidFill>
              </a:rPr>
              <a:t>→</a:t>
            </a:r>
            <a:endParaRPr lang="en-US" sz="2500" dirty="0"/>
          </a:p>
        </p:txBody>
      </p:sp>
      <p:sp>
        <p:nvSpPr>
          <p:cNvPr id="22" name="Shape 20"/>
          <p:cNvSpPr/>
          <p:nvPr/>
        </p:nvSpPr>
        <p:spPr>
          <a:xfrm>
            <a:off x="6446520" y="4846320"/>
            <a:ext cx="4663440" cy="749808"/>
          </a:xfrm>
          <a:prstGeom prst="roundRect">
            <a:avLst/>
          </a:prstGeom>
          <a:solidFill>
            <a:srgbClr val="174D46"/>
          </a:solidFill>
          <a:ln w="12700">
            <a:solidFill>
              <a:srgbClr val="52D3A3"/>
            </a:solidFill>
            <a:prstDash val="solid"/>
          </a:ln>
        </p:spPr>
      </p:sp>
      <p:sp>
        <p:nvSpPr>
          <p:cNvPr id="23" name="Text 21"/>
          <p:cNvSpPr/>
          <p:nvPr/>
        </p:nvSpPr>
        <p:spPr>
          <a:xfrm>
            <a:off x="6720840" y="5065776"/>
            <a:ext cx="4114800" cy="274320"/>
          </a:xfrm>
          <a:prstGeom prst="rect">
            <a:avLst/>
          </a:prstGeom>
          <a:noFill/>
          <a:ln/>
        </p:spPr>
        <p:txBody>
          <a:bodyPr wrap="square" lIns="0" tIns="0" rIns="0" bIns="0" rtlCol="0" anchor="ctr"/>
          <a:lstStyle/>
          <a:p>
            <a:pPr marL="0" indent="0" algn="ctr">
              <a:buNone/>
            </a:pPr>
            <a:r>
              <a:rPr lang="en-US" sz="1600" b="1" dirty="0">
                <a:solidFill>
                  <a:srgbClr val="F7FAFC"/>
                </a:solidFill>
              </a:rPr>
              <a:t>Combine fine-tuning + RAG</a:t>
            </a:r>
            <a:endParaRPr lang="en-US" sz="1600" dirty="0"/>
          </a:p>
        </p:txBody>
      </p:sp>
      <p:sp>
        <p:nvSpPr>
          <p:cNvPr id="24" name="Text 22"/>
          <p:cNvSpPr/>
          <p:nvPr/>
        </p:nvSpPr>
        <p:spPr>
          <a:xfrm>
            <a:off x="914400" y="6126480"/>
            <a:ext cx="10332720" cy="347472"/>
          </a:xfrm>
          <a:prstGeom prst="rect">
            <a:avLst/>
          </a:prstGeom>
          <a:noFill/>
          <a:ln/>
        </p:spPr>
        <p:txBody>
          <a:bodyPr wrap="square" lIns="0" tIns="0" rIns="0" bIns="0" rtlCol="0" anchor="ctr"/>
          <a:lstStyle/>
          <a:p>
            <a:pPr marL="0" indent="0" algn="ctr">
              <a:buNone/>
            </a:pPr>
            <a:r>
              <a:rPr lang="en-US" sz="1600" b="1" dirty="0">
                <a:solidFill>
                  <a:srgbClr val="F6C85F"/>
                </a:solidFill>
              </a:rPr>
              <a:t>Takeaway: Fine-tuning changes behavior. RAG supplies knowledge. LoRA and QLoRA make training efficient.</a:t>
            </a:r>
            <a:endParaRPr lang="en-US" sz="1600" dirty="0"/>
          </a:p>
        </p:txBody>
      </p:sp>
      <p:sp>
        <p:nvSpPr>
          <p:cNvPr id="25" name="Slide Number Placeholder 0"/>
          <p:cNvSpPr>
            <a:spLocks noGrp="1"/>
          </p:cNvSpPr>
          <p:nvPr>
            <p:ph type="sldNum" sz="quarter" idx="4294967295"/>
          </p:nvPr>
        </p:nvSpPr>
        <p:spPr>
          <a:xfrm>
            <a:off x="11631613" y="6510338"/>
            <a:ext cx="800100" cy="300037"/>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6A3"/>
                </a:solidFill>
              </a:defRPr>
            </a:lvl1pPr>
          </a:lstStyle>
          <a:p>
            <a:pPr algn="l"/>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efa4170-0d19-0005-0004-bc88714345d2}" enabled="1" method="Standard" siteId="{57eb817e-47c4-4e63-9861-c1941e4d9c93}"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Fine-Tuning Large Language Models</dc:title>
  <dc:subject>LLM Fine-Tuning, LoRA, QLoRA, and RAG</dc:subject>
  <dc:creator>Alex Wilber</dc:creator>
  <cp:lastModifiedBy>Alex Wilber</cp:lastModifiedBy>
  <cp:revision>13</cp:revision>
  <dcterms:created xsi:type="dcterms:W3CDTF">2026-10-04T07:51:30Z</dcterms:created>
  <dcterms:modified xsi:type="dcterms:W3CDTF">2026-10-04T07:57:54Z</dcterms:modified>
</cp:coreProperties>
</file>